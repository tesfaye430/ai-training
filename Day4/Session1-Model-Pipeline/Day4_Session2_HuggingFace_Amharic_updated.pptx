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8"/>
  </p:notesMasterIdLst>
  <p:sldIdLst>
    <p:sldId id="256" r:id="rId3"/>
    <p:sldId id="257" r:id="rId4"/>
    <p:sldId id="897" r:id="rId5"/>
    <p:sldId id="898" r:id="rId6"/>
    <p:sldId id="899" r:id="rId7"/>
    <p:sldId id="862" r:id="rId8"/>
    <p:sldId id="877" r:id="rId9"/>
    <p:sldId id="875" r:id="rId10"/>
    <p:sldId id="867" r:id="rId11"/>
    <p:sldId id="868" r:id="rId12"/>
    <p:sldId id="869" r:id="rId13"/>
    <p:sldId id="870" r:id="rId14"/>
    <p:sldId id="871" r:id="rId15"/>
    <p:sldId id="873" r:id="rId16"/>
    <p:sldId id="874" r:id="rId17"/>
    <p:sldId id="878" r:id="rId18"/>
    <p:sldId id="866" r:id="rId19"/>
    <p:sldId id="881" r:id="rId20"/>
    <p:sldId id="882" r:id="rId21"/>
    <p:sldId id="826" r:id="rId22"/>
    <p:sldId id="829" r:id="rId23"/>
    <p:sldId id="831" r:id="rId24"/>
    <p:sldId id="830" r:id="rId25"/>
    <p:sldId id="833" r:id="rId26"/>
    <p:sldId id="887" r:id="rId27"/>
    <p:sldId id="839" r:id="rId28"/>
    <p:sldId id="895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570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667" y="0"/>
            <a:ext cx="1222366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3637527"/>
            <a:ext cx="10363200" cy="697310"/>
          </a:xfrm>
        </p:spPr>
        <p:txBody>
          <a:bodyPr anchor="b">
            <a:normAutofit/>
          </a:bodyPr>
          <a:lstStyle>
            <a:lvl1pPr algn="l">
              <a:defRPr sz="4400" i="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4426914"/>
            <a:ext cx="10363200" cy="1275747"/>
          </a:xfrm>
        </p:spPr>
        <p:txBody>
          <a:bodyPr>
            <a:normAutofit/>
          </a:bodyPr>
          <a:lstStyle>
            <a:lvl1pPr marL="0" indent="0" algn="l">
              <a:buNone/>
              <a:defRPr sz="28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6A1"/>
                </a:solidFill>
              </a:defRPr>
            </a:lvl1pPr>
          </a:lstStyle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" y="857555"/>
            <a:ext cx="1942592" cy="241401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755" y="857555"/>
            <a:ext cx="2592832" cy="24140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508" y="857555"/>
            <a:ext cx="3153664" cy="241401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995" y="857555"/>
            <a:ext cx="2609088" cy="241401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888" y="857555"/>
            <a:ext cx="1999488" cy="241401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31667" y="0"/>
            <a:ext cx="12255333" cy="6985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0" y="6159500"/>
            <a:ext cx="12192000" cy="698500"/>
          </a:xfrm>
          <a:prstGeom prst="rect">
            <a:avLst/>
          </a:prstGeom>
        </p:spPr>
      </p:pic>
      <p:pic>
        <p:nvPicPr>
          <p:cNvPr id="12" name="Picture Placeholder 11"/>
          <p:cNvPicPr>
            <a:picLocks noGrp="1" noChangeAspect="1"/>
          </p:cNvPicPr>
          <p:nvPr>
            <p:ph type="pic" sz="quarter" idx="13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00180" y="6153785"/>
            <a:ext cx="568960" cy="426720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73449146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 Opt 1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667" y="0"/>
            <a:ext cx="1222366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3637527"/>
            <a:ext cx="10363200" cy="697310"/>
          </a:xfrm>
        </p:spPr>
        <p:txBody>
          <a:bodyPr anchor="b">
            <a:normAutofit/>
          </a:bodyPr>
          <a:lstStyle>
            <a:lvl1pPr algn="l">
              <a:defRPr sz="4400" i="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4426914"/>
            <a:ext cx="10363200" cy="1275747"/>
          </a:xfrm>
        </p:spPr>
        <p:txBody>
          <a:bodyPr>
            <a:normAutofit/>
          </a:bodyPr>
          <a:lstStyle>
            <a:lvl1pPr marL="0" indent="0" algn="l">
              <a:buNone/>
              <a:defRPr sz="28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044735"/>
            <a:ext cx="2438400" cy="1828800"/>
          </a:xfrm>
          <a:blipFill>
            <a:blip r:embed="rId3"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2800" baseline="0">
                <a:ln w="3175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 IMAGE </a:t>
            </a:r>
          </a:p>
        </p:txBody>
      </p:sp>
      <p:sp>
        <p:nvSpPr>
          <p:cNvPr id="51" name="Picture Placeholder 49"/>
          <p:cNvSpPr>
            <a:spLocks noGrp="1"/>
          </p:cNvSpPr>
          <p:nvPr>
            <p:ph type="pic" sz="quarter" idx="14" hasCustomPrompt="1"/>
          </p:nvPr>
        </p:nvSpPr>
        <p:spPr>
          <a:xfrm>
            <a:off x="2438400" y="1044735"/>
            <a:ext cx="2438400" cy="1828800"/>
          </a:xfrm>
          <a:blipFill>
            <a:blip r:embed="rId4"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A1"/>
              </a:buClr>
              <a:buSzTx/>
              <a:buFont typeface="LucidaGrande" charset="0"/>
              <a:buNone/>
              <a:defRPr sz="2800" baseline="0">
                <a:ln w="3175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 INSERT</a:t>
            </a:r>
            <a:br>
              <a:rPr lang="en-US" dirty="0"/>
            </a:br>
            <a:r>
              <a:rPr lang="en-US" dirty="0"/>
              <a:t> IMAGE </a:t>
            </a:r>
          </a:p>
        </p:txBody>
      </p:sp>
      <p:sp>
        <p:nvSpPr>
          <p:cNvPr id="52" name="Picture Placeholder 49"/>
          <p:cNvSpPr>
            <a:spLocks noGrp="1"/>
          </p:cNvSpPr>
          <p:nvPr>
            <p:ph type="pic" sz="quarter" idx="15" hasCustomPrompt="1"/>
          </p:nvPr>
        </p:nvSpPr>
        <p:spPr>
          <a:xfrm>
            <a:off x="4876800" y="1044735"/>
            <a:ext cx="2438400" cy="1828800"/>
          </a:xfrm>
          <a:blipFill>
            <a:blip r:embed="rId5"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A1"/>
              </a:buClr>
              <a:buSzTx/>
              <a:buFont typeface="LucidaGrande" charset="0"/>
              <a:buNone/>
              <a:defRPr sz="2800" baseline="0">
                <a:ln w="3175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 INSERT</a:t>
            </a:r>
            <a:br>
              <a:rPr lang="en-US" dirty="0"/>
            </a:br>
            <a:r>
              <a:rPr lang="en-US" dirty="0"/>
              <a:t> IMAGE  </a:t>
            </a:r>
          </a:p>
        </p:txBody>
      </p:sp>
      <p:sp>
        <p:nvSpPr>
          <p:cNvPr id="53" name="Picture Placeholder 49"/>
          <p:cNvSpPr>
            <a:spLocks noGrp="1"/>
          </p:cNvSpPr>
          <p:nvPr>
            <p:ph type="pic" sz="quarter" idx="16" hasCustomPrompt="1"/>
          </p:nvPr>
        </p:nvSpPr>
        <p:spPr>
          <a:xfrm>
            <a:off x="7315200" y="1044735"/>
            <a:ext cx="2438400" cy="1828800"/>
          </a:xfrm>
          <a:blipFill>
            <a:blip r:embed="rId6"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A1"/>
              </a:buClr>
              <a:buSzTx/>
              <a:buFont typeface="LucidaGrande" charset="0"/>
              <a:buNone/>
              <a:defRPr sz="2800" baseline="0">
                <a:ln w="3175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  INSERT</a:t>
            </a:r>
            <a:br>
              <a:rPr lang="en-US" dirty="0"/>
            </a:br>
            <a:r>
              <a:rPr lang="en-US" dirty="0"/>
              <a:t> IMAGE </a:t>
            </a:r>
          </a:p>
        </p:txBody>
      </p:sp>
      <p:sp>
        <p:nvSpPr>
          <p:cNvPr id="54" name="Picture Placeholder 49"/>
          <p:cNvSpPr>
            <a:spLocks noGrp="1"/>
          </p:cNvSpPr>
          <p:nvPr>
            <p:ph type="pic" sz="quarter" idx="17" hasCustomPrompt="1"/>
          </p:nvPr>
        </p:nvSpPr>
        <p:spPr>
          <a:xfrm>
            <a:off x="9753600" y="1044735"/>
            <a:ext cx="2438400" cy="1828800"/>
          </a:xfrm>
          <a:blipFill>
            <a:blip r:embed="rId7"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2800" baseline="0">
                <a:ln w="3175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 INSERT</a:t>
            </a:r>
            <a:br>
              <a:rPr lang="en-US" dirty="0"/>
            </a:br>
            <a:r>
              <a:rPr lang="en-US" dirty="0"/>
              <a:t> IMAGE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6A1"/>
                </a:solidFill>
              </a:defRPr>
            </a:lvl1pPr>
          </a:lstStyle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31667" y="0"/>
            <a:ext cx="12255333" cy="6985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0" y="6159500"/>
            <a:ext cx="12192000" cy="698500"/>
          </a:xfrm>
          <a:prstGeom prst="rect">
            <a:avLst/>
          </a:prstGeom>
        </p:spPr>
      </p:pic>
      <p:pic>
        <p:nvPicPr>
          <p:cNvPr id="12" name="Picture Placeholder 11"/>
          <p:cNvPicPr>
            <a:picLocks noGrp="1" noChangeAspect="1"/>
          </p:cNvPicPr>
          <p:nvPr>
            <p:ph type="pic" sz="quarter" idx="19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00180" y="6153785"/>
            <a:ext cx="568960" cy="42672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9263815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 Opt 1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667" y="0"/>
            <a:ext cx="1222366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3637527"/>
            <a:ext cx="10363200" cy="697310"/>
          </a:xfrm>
        </p:spPr>
        <p:txBody>
          <a:bodyPr anchor="b">
            <a:normAutofit/>
          </a:bodyPr>
          <a:lstStyle>
            <a:lvl1pPr algn="l">
              <a:defRPr sz="4400" i="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4426914"/>
            <a:ext cx="10363200" cy="1275747"/>
          </a:xfrm>
        </p:spPr>
        <p:txBody>
          <a:bodyPr>
            <a:normAutofit/>
          </a:bodyPr>
          <a:lstStyle>
            <a:lvl1pPr marL="0" indent="0" algn="l">
              <a:buNone/>
              <a:defRPr sz="28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6A1"/>
                </a:solidFill>
              </a:defRPr>
            </a:lvl1pPr>
          </a:lstStyle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" y="857555"/>
            <a:ext cx="1942592" cy="241401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755" y="857555"/>
            <a:ext cx="2592832" cy="24140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508" y="857555"/>
            <a:ext cx="3153664" cy="241401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995" y="857555"/>
            <a:ext cx="2609088" cy="241401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888" y="857555"/>
            <a:ext cx="1999488" cy="241401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31667" y="0"/>
            <a:ext cx="12255333" cy="6985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0" y="6159500"/>
            <a:ext cx="12192000" cy="698500"/>
          </a:xfrm>
          <a:prstGeom prst="rect">
            <a:avLst/>
          </a:prstGeom>
        </p:spPr>
      </p:pic>
      <p:pic>
        <p:nvPicPr>
          <p:cNvPr id="12" name="Picture Placeholder 11"/>
          <p:cNvPicPr>
            <a:picLocks noGrp="1" noChangeAspect="1"/>
          </p:cNvPicPr>
          <p:nvPr>
            <p:ph type="pic" sz="quarter" idx="13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00180" y="6153785"/>
            <a:ext cx="568960" cy="426720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4228577966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 Opt 1 Tagline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667" y="0"/>
            <a:ext cx="1222366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3637527"/>
            <a:ext cx="10363200" cy="697310"/>
          </a:xfrm>
        </p:spPr>
        <p:txBody>
          <a:bodyPr anchor="b">
            <a:normAutofit/>
          </a:bodyPr>
          <a:lstStyle>
            <a:lvl1pPr algn="l">
              <a:defRPr sz="4400" i="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4426914"/>
            <a:ext cx="10363200" cy="1275747"/>
          </a:xfrm>
        </p:spPr>
        <p:txBody>
          <a:bodyPr>
            <a:normAutofit/>
          </a:bodyPr>
          <a:lstStyle>
            <a:lvl1pPr marL="0" indent="0" algn="l">
              <a:buNone/>
              <a:defRPr sz="28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044735"/>
            <a:ext cx="2438400" cy="1828800"/>
          </a:xfrm>
          <a:blipFill>
            <a:blip r:embed="rId3"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2800" baseline="0">
                <a:ln w="3175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 IMAGE </a:t>
            </a:r>
          </a:p>
        </p:txBody>
      </p:sp>
      <p:sp>
        <p:nvSpPr>
          <p:cNvPr id="51" name="Picture Placeholder 49"/>
          <p:cNvSpPr>
            <a:spLocks noGrp="1"/>
          </p:cNvSpPr>
          <p:nvPr>
            <p:ph type="pic" sz="quarter" idx="14" hasCustomPrompt="1"/>
          </p:nvPr>
        </p:nvSpPr>
        <p:spPr>
          <a:xfrm>
            <a:off x="2438400" y="1044735"/>
            <a:ext cx="2438400" cy="1828800"/>
          </a:xfrm>
          <a:blipFill>
            <a:blip r:embed="rId4"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A1"/>
              </a:buClr>
              <a:buSzTx/>
              <a:buFont typeface="LucidaGrande" charset="0"/>
              <a:buNone/>
              <a:defRPr sz="2800" baseline="0">
                <a:ln w="3175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 INSERT</a:t>
            </a:r>
            <a:br>
              <a:rPr lang="en-US" dirty="0"/>
            </a:br>
            <a:r>
              <a:rPr lang="en-US" dirty="0"/>
              <a:t> IMAGE </a:t>
            </a:r>
          </a:p>
        </p:txBody>
      </p:sp>
      <p:sp>
        <p:nvSpPr>
          <p:cNvPr id="52" name="Picture Placeholder 49"/>
          <p:cNvSpPr>
            <a:spLocks noGrp="1"/>
          </p:cNvSpPr>
          <p:nvPr>
            <p:ph type="pic" sz="quarter" idx="15" hasCustomPrompt="1"/>
          </p:nvPr>
        </p:nvSpPr>
        <p:spPr>
          <a:xfrm>
            <a:off x="4876800" y="1044735"/>
            <a:ext cx="2438400" cy="1828800"/>
          </a:xfrm>
          <a:blipFill>
            <a:blip r:embed="rId5"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A1"/>
              </a:buClr>
              <a:buSzTx/>
              <a:buFont typeface="LucidaGrande" charset="0"/>
              <a:buNone/>
              <a:defRPr sz="2800" baseline="0">
                <a:ln w="3175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 INSERT</a:t>
            </a:r>
            <a:br>
              <a:rPr lang="en-US" dirty="0"/>
            </a:br>
            <a:r>
              <a:rPr lang="en-US" dirty="0"/>
              <a:t> IMAGE  </a:t>
            </a:r>
          </a:p>
        </p:txBody>
      </p:sp>
      <p:sp>
        <p:nvSpPr>
          <p:cNvPr id="53" name="Picture Placeholder 49"/>
          <p:cNvSpPr>
            <a:spLocks noGrp="1"/>
          </p:cNvSpPr>
          <p:nvPr>
            <p:ph type="pic" sz="quarter" idx="16" hasCustomPrompt="1"/>
          </p:nvPr>
        </p:nvSpPr>
        <p:spPr>
          <a:xfrm>
            <a:off x="7315200" y="1044735"/>
            <a:ext cx="2438400" cy="1828800"/>
          </a:xfrm>
          <a:blipFill>
            <a:blip r:embed="rId6"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A1"/>
              </a:buClr>
              <a:buSzTx/>
              <a:buFont typeface="LucidaGrande" charset="0"/>
              <a:buNone/>
              <a:defRPr sz="2800" baseline="0">
                <a:ln w="3175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  INSERT</a:t>
            </a:r>
            <a:br>
              <a:rPr lang="en-US" dirty="0"/>
            </a:br>
            <a:r>
              <a:rPr lang="en-US" dirty="0"/>
              <a:t> IMAGE </a:t>
            </a:r>
          </a:p>
        </p:txBody>
      </p:sp>
      <p:sp>
        <p:nvSpPr>
          <p:cNvPr id="54" name="Picture Placeholder 49"/>
          <p:cNvSpPr>
            <a:spLocks noGrp="1"/>
          </p:cNvSpPr>
          <p:nvPr>
            <p:ph type="pic" sz="quarter" idx="17" hasCustomPrompt="1"/>
          </p:nvPr>
        </p:nvSpPr>
        <p:spPr>
          <a:xfrm>
            <a:off x="9753600" y="1044735"/>
            <a:ext cx="2438400" cy="1828800"/>
          </a:xfrm>
          <a:blipFill>
            <a:blip r:embed="rId7"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2800" baseline="0">
                <a:ln w="3175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 INSERT</a:t>
            </a:r>
            <a:br>
              <a:rPr lang="en-US" dirty="0"/>
            </a:br>
            <a:r>
              <a:rPr lang="en-US" dirty="0"/>
              <a:t> IMAGE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6A1"/>
                </a:solidFill>
              </a:defRPr>
            </a:lvl1pPr>
          </a:lstStyle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31667" y="0"/>
            <a:ext cx="12255333" cy="6985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0" y="6159500"/>
            <a:ext cx="12192000" cy="698500"/>
          </a:xfrm>
          <a:prstGeom prst="rect">
            <a:avLst/>
          </a:prstGeom>
        </p:spPr>
      </p:pic>
      <p:pic>
        <p:nvPicPr>
          <p:cNvPr id="12" name="Picture Placeholder 11"/>
          <p:cNvPicPr>
            <a:picLocks noGrp="1" noChangeAspect="1"/>
          </p:cNvPicPr>
          <p:nvPr>
            <p:ph type="pic" sz="quarter" idx="19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00180" y="6153785"/>
            <a:ext cx="568960" cy="42672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67259165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Title Sl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667" y="0"/>
            <a:ext cx="1222366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3262831"/>
            <a:ext cx="10515600" cy="827758"/>
          </a:xfrm>
        </p:spPr>
        <p:txBody>
          <a:bodyPr anchor="b">
            <a:normAutofit/>
          </a:bodyPr>
          <a:lstStyle>
            <a:lvl1pPr>
              <a:defRPr sz="4400" i="0"/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117578"/>
            <a:ext cx="10515600" cy="672450"/>
          </a:xfrm>
        </p:spPr>
        <p:txBody>
          <a:bodyPr>
            <a:normAutofit/>
          </a:bodyPr>
          <a:lstStyle>
            <a:lvl1pPr marL="0" indent="0">
              <a:buNone/>
              <a:defRPr sz="2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66A1"/>
                </a:solidFill>
              </a:defRPr>
            </a:lvl1pPr>
          </a:lstStyle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31667" y="0"/>
            <a:ext cx="12255333" cy="698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0" y="6159500"/>
            <a:ext cx="12192000" cy="698500"/>
          </a:xfrm>
          <a:prstGeom prst="rect">
            <a:avLst/>
          </a:prstGeom>
        </p:spPr>
      </p:pic>
      <p:pic>
        <p:nvPicPr>
          <p:cNvPr id="12" name="Picture Placeholder 11"/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00180" y="6153785"/>
            <a:ext cx="568960" cy="42672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71811490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1"/>
          <a:stretch>
            <a:fillRect/>
          </a:stretch>
        </p:blipFill>
        <p:spPr>
          <a:xfrm rot="10800000" flipH="1">
            <a:off x="-31667" y="-1"/>
            <a:ext cx="12223667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3262831"/>
            <a:ext cx="10515600" cy="827758"/>
          </a:xfrm>
        </p:spPr>
        <p:txBody>
          <a:bodyPr anchor="b">
            <a:normAutofit/>
          </a:bodyPr>
          <a:lstStyle>
            <a:lvl1pPr>
              <a:defRPr sz="4400" i="0" baseline="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117578"/>
            <a:ext cx="10515600" cy="672450"/>
          </a:xfrm>
        </p:spPr>
        <p:txBody>
          <a:bodyPr>
            <a:normAutofit/>
          </a:bodyPr>
          <a:lstStyle>
            <a:lvl1pPr marL="0" indent="0">
              <a:buNone/>
              <a:defRPr sz="2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rgbClr val="0066A1"/>
                </a:solidFill>
              </a:defRPr>
            </a:lvl1pPr>
          </a:lstStyle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075" y="494096"/>
            <a:ext cx="1690624" cy="128625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917" y="1149416"/>
            <a:ext cx="2503424" cy="189585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1" t="7771"/>
          <a:stretch>
            <a:fillRect/>
          </a:stretch>
        </p:blipFill>
        <p:spPr>
          <a:xfrm>
            <a:off x="-3725" y="-3048"/>
            <a:ext cx="4351527" cy="332868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081" y="2921668"/>
            <a:ext cx="3064256" cy="26944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31667" y="0"/>
            <a:ext cx="12255333" cy="6985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0" y="6159500"/>
            <a:ext cx="12192000" cy="698500"/>
          </a:xfrm>
          <a:prstGeom prst="rect">
            <a:avLst/>
          </a:prstGeom>
        </p:spPr>
      </p:pic>
      <p:pic>
        <p:nvPicPr>
          <p:cNvPr id="12" name="Picture Placeholder 11"/>
          <p:cNvPicPr>
            <a:picLocks noGrp="1" noChangeAspect="1"/>
          </p:cNvPicPr>
          <p:nvPr>
            <p:ph type="pic" sz="quarter" idx="13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00180" y="6153785"/>
            <a:ext cx="568960" cy="426720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9457344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Title Slide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1"/>
          <a:stretch>
            <a:fillRect/>
          </a:stretch>
        </p:blipFill>
        <p:spPr>
          <a:xfrm rot="10800000" flipH="1">
            <a:off x="-16427" y="-1"/>
            <a:ext cx="12223667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3262831"/>
            <a:ext cx="10515600" cy="827758"/>
          </a:xfrm>
        </p:spPr>
        <p:txBody>
          <a:bodyPr anchor="b">
            <a:normAutofit/>
          </a:bodyPr>
          <a:lstStyle>
            <a:lvl1pPr>
              <a:defRPr sz="4400" i="0"/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117578"/>
            <a:ext cx="10515600" cy="672450"/>
          </a:xfrm>
        </p:spPr>
        <p:txBody>
          <a:bodyPr>
            <a:normAutofit/>
          </a:bodyPr>
          <a:lstStyle>
            <a:lvl1pPr marL="0" indent="0">
              <a:buNone/>
              <a:defRPr sz="2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31667" y="0"/>
            <a:ext cx="12255333" cy="698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0" y="6159500"/>
            <a:ext cx="121920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688153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3943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106198"/>
            <a:ext cx="10515600" cy="356843"/>
          </a:xfrm>
        </p:spPr>
        <p:txBody>
          <a:bodyPr>
            <a:norm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71342979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5181600" cy="37925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37925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106198"/>
            <a:ext cx="10515600" cy="356843"/>
          </a:xfrm>
        </p:spPr>
        <p:txBody>
          <a:bodyPr>
            <a:norm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68809635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3792750"/>
          </a:xfrm>
        </p:spPr>
        <p:txBody>
          <a:bodyPr/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5181600" cy="37925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106198"/>
            <a:ext cx="10515600" cy="356843"/>
          </a:xfrm>
        </p:spPr>
        <p:txBody>
          <a:bodyPr>
            <a:no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594407270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3792802"/>
            <a:ext cx="5181600" cy="1825573"/>
          </a:xfrm>
        </p:spPr>
        <p:txBody>
          <a:bodyPr/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5181600" cy="37925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172200" y="1825626"/>
            <a:ext cx="5181600" cy="1825573"/>
          </a:xfrm>
        </p:spPr>
        <p:txBody>
          <a:bodyPr/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106198"/>
            <a:ext cx="10515600" cy="356843"/>
          </a:xfrm>
        </p:spPr>
        <p:txBody>
          <a:bodyPr>
            <a:no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66691764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56181"/>
            <a:ext cx="10515600" cy="55333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2837469"/>
            <a:ext cx="5181600" cy="2780906"/>
          </a:xfrm>
        </p:spPr>
        <p:txBody>
          <a:bodyPr/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5181600" cy="37925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1825626"/>
            <a:ext cx="5181600" cy="1011843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106198"/>
            <a:ext cx="10515600" cy="356843"/>
          </a:xfrm>
        </p:spPr>
        <p:txBody>
          <a:bodyPr>
            <a:no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4256224679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Text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56181"/>
            <a:ext cx="10515600" cy="55333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8200" y="1815898"/>
            <a:ext cx="5181600" cy="3802265"/>
          </a:xfrm>
        </p:spPr>
        <p:txBody>
          <a:bodyPr/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172200" y="2837468"/>
            <a:ext cx="5181600" cy="27806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1825626"/>
            <a:ext cx="5181600" cy="1011843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106198"/>
            <a:ext cx="10515600" cy="356843"/>
          </a:xfrm>
        </p:spPr>
        <p:txBody>
          <a:bodyPr>
            <a:no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185057232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56181"/>
            <a:ext cx="10515600" cy="55333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3807094"/>
            <a:ext cx="5181600" cy="1811281"/>
          </a:xfrm>
        </p:spPr>
        <p:txBody>
          <a:bodyPr/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0" y="1825626"/>
            <a:ext cx="5181600" cy="18333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172200" y="1847706"/>
            <a:ext cx="5181600" cy="1811281"/>
          </a:xfrm>
        </p:spPr>
        <p:txBody>
          <a:bodyPr/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838200" y="3807094"/>
            <a:ext cx="5181600" cy="1811281"/>
          </a:xfrm>
        </p:spPr>
        <p:txBody>
          <a:bodyPr/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1106198"/>
            <a:ext cx="10515600" cy="356843"/>
          </a:xfrm>
        </p:spPr>
        <p:txBody>
          <a:bodyPr>
            <a:no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482503123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1" y="1825625"/>
            <a:ext cx="4026031" cy="37925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4" hasCustomPrompt="1"/>
          </p:nvPr>
        </p:nvSpPr>
        <p:spPr>
          <a:xfrm>
            <a:off x="5052768" y="1825625"/>
            <a:ext cx="6301033" cy="3792538"/>
          </a:xfrm>
        </p:spPr>
        <p:txBody>
          <a:bodyPr>
            <a:normAutofit/>
          </a:bodyPr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106198"/>
            <a:ext cx="10515600" cy="356843"/>
          </a:xfrm>
        </p:spPr>
        <p:txBody>
          <a:bodyPr>
            <a:no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254271494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56181"/>
            <a:ext cx="10515600" cy="55333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172200" y="1825625"/>
            <a:ext cx="5181600" cy="37925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4788817"/>
            <a:ext cx="5181600" cy="829347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838200" y="1825626"/>
            <a:ext cx="5181600" cy="2963191"/>
          </a:xfrm>
        </p:spPr>
        <p:txBody>
          <a:bodyPr>
            <a:normAutofit/>
          </a:bodyPr>
          <a:lstStyle>
            <a:lvl1pPr marL="0" indent="0">
              <a:buNone/>
              <a:defRPr sz="1200" i="1" baseline="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1106198"/>
            <a:ext cx="10515600" cy="356843"/>
          </a:xfrm>
        </p:spPr>
        <p:txBody>
          <a:bodyPr>
            <a:no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789045874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64177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56181"/>
            <a:ext cx="10515600" cy="55333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0" y="2837467"/>
            <a:ext cx="10515600" cy="21398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25626"/>
            <a:ext cx="10515600" cy="101184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977353"/>
            <a:ext cx="10515600" cy="662890"/>
          </a:xfrm>
        </p:spPr>
        <p:txBody>
          <a:bodyPr>
            <a:normAutofit/>
          </a:bodyPr>
          <a:lstStyle>
            <a:lvl1pPr marL="0" indent="0">
              <a:buNone/>
              <a:defRPr sz="2000" b="1" i="1">
                <a:solidFill>
                  <a:srgbClr val="0066A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1106198"/>
            <a:ext cx="10515600" cy="356843"/>
          </a:xfrm>
        </p:spPr>
        <p:txBody>
          <a:bodyPr>
            <a:no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828381576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Bullets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56181"/>
            <a:ext cx="10515600" cy="55333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0" y="4006392"/>
            <a:ext cx="5181600" cy="16117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825625"/>
            <a:ext cx="10515600" cy="2075235"/>
          </a:xfrm>
        </p:spPr>
        <p:txBody>
          <a:bodyPr numCol="2" spcCol="274320">
            <a:norm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6172200" y="4006391"/>
            <a:ext cx="5181600" cy="1611772"/>
          </a:xfrm>
        </p:spPr>
        <p:txBody>
          <a:bodyPr>
            <a:normAutofit/>
          </a:bodyPr>
          <a:lstStyle>
            <a:lvl1pPr marL="0" indent="0">
              <a:buNone/>
              <a:defRPr sz="1200" i="1" baseline="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1106198"/>
            <a:ext cx="10515600" cy="356843"/>
          </a:xfrm>
        </p:spPr>
        <p:txBody>
          <a:bodyPr>
            <a:no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069457173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56181"/>
            <a:ext cx="10515600" cy="55333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6627829" cy="2887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4713402"/>
            <a:ext cx="6627829" cy="904761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066A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7616857" y="1825624"/>
            <a:ext cx="3736943" cy="3792539"/>
          </a:xfrm>
        </p:spPr>
        <p:txBody>
          <a:bodyPr>
            <a:normAutofit/>
          </a:bodyPr>
          <a:lstStyle>
            <a:lvl1pPr marL="0" indent="0">
              <a:buNone/>
              <a:defRPr sz="1200" i="1" baseline="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1106198"/>
            <a:ext cx="10515600" cy="356843"/>
          </a:xfrm>
        </p:spPr>
        <p:txBody>
          <a:bodyPr>
            <a:no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236995568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fld id="{D78BE8E2-2BE6-4813-B202-0BFB918F5C4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2B8F-0E67-4588-AFC9-6FE7123DB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62099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8901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404" y="431630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defRPr sz="2700" b="0" i="0" u="none" strike="noStrike" spc="0">
                <a:solidFill>
                  <a:srgbClr val="262626">
                    <a:alpha val="100000"/>
                  </a:srgbClr>
                </a:solidFill>
                <a:latin typeface="Microsoft YaHei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4" y="6356352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defRPr sz="105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xfrm>
            <a:off x="1" y="593459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6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Microsoft YaHei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第四级</a:t>
            </a:r>
          </a:p>
        </p:txBody>
      </p:sp>
    </p:spTree>
    <p:extLst>
      <p:ext uri="{BB962C8B-B14F-4D97-AF65-F5344CB8AC3E}">
        <p14:creationId xmlns:p14="http://schemas.microsoft.com/office/powerpoint/2010/main" val="627849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56181"/>
            <a:ext cx="10515600" cy="5533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Topic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288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4"/>
          </p:nvPr>
        </p:nvSpPr>
        <p:spPr>
          <a:xfrm>
            <a:off x="513761" y="6205393"/>
            <a:ext cx="6488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66A1"/>
                </a:solidFill>
              </a:defRPr>
            </a:lvl1pPr>
          </a:lstStyle>
          <a:p>
            <a:fld id="{3DD97BEB-BAEF-0344-9D5C-EC73E478698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31667" y="0"/>
            <a:ext cx="12255333" cy="698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0" y="6159500"/>
            <a:ext cx="121920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37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rgbClr val="0066A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66A1"/>
        </a:buClr>
        <a:buFont typeface="LucidaGrande" charset="0"/>
        <a:buChar char="▸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A1"/>
        </a:buClr>
        <a:buFont typeface="LucidaGrande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A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A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A1"/>
        </a:buClr>
        <a:buFont typeface="Courier New" panose="02070309020205020404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9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303F9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303F9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FINE-TUNING · SESSION 2 · 10:45 – 12:45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 &amp; the Amharic Problem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model, find a dataset, and prove — with evidence — that the model is bad at Amharic before you try to fix it.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4 of 5 · 2 hours · 4 hands-on labs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search the Hugging Face Hub for models and datasets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tokenizer is, and why Amharic costs 3x more tokens than English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load and inspect a real 83,000-example Amharic dataset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must test the model BEFORE fine-tuning, not after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format raw conversations into training examples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1A237E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Hub and read a model card critically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many tokens Amharic uses versus English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addisai/FineTome Amharic and inspect its structure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baseline answers to five Amharic questions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dataset into text the model can learn from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116"/>
            <a:ext cx="9144248" cy="5143768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01" y="857116"/>
            <a:ext cx="96017" cy="5143768"/>
          </a:xfrm>
          <a:prstGeom prst="rect">
            <a:avLst/>
          </a:prstGeom>
          <a:solidFill>
            <a:srgbClr val="D96C2C"/>
          </a:solidFill>
          <a:ln w="12700">
            <a:solidFill>
              <a:srgbClr val="D96C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68194" y="5747126"/>
            <a:ext cx="1165921" cy="137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640" dirty="0">
                <a:solidFill>
                  <a:srgbClr val="526270"/>
                </a:solidFill>
                <a:latin typeface="Calibri"/>
              </a:rPr>
              <a:t>Demystifying LLMs</a:t>
            </a:r>
            <a:endParaRPr lang="en-US" sz="6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46344" y="1090301"/>
            <a:ext cx="370351" cy="370351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/>
              </a:rPr>
              <a:t>1</a:t>
            </a: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12711" y="1042292"/>
            <a:ext cx="7407026" cy="342918"/>
          </a:xfrm>
          <a:prstGeom prst="rect">
            <a:avLst/>
          </a:prstGeom>
          <a:noFill/>
        </p:spPr>
        <p:txBody>
          <a:bodyPr wrap="square" lIns="190" tIns="190" rIns="190" bIns="190" rtlCol="0" anchor="ctr"/>
          <a:lstStyle/>
          <a:p>
            <a:r>
              <a:rPr lang="en-US" sz="2475" b="1" dirty="0">
                <a:solidFill>
                  <a:srgbClr val="17324D"/>
                </a:solidFill>
                <a:latin typeface="Calibri"/>
              </a:rPr>
              <a:t>Ask the Question</a:t>
            </a:r>
            <a:endParaRPr lang="en-US" sz="247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26428" y="1446936"/>
            <a:ext cx="7407026" cy="205751"/>
          </a:xfrm>
          <a:prstGeom prst="rect">
            <a:avLst/>
          </a:prstGeom>
          <a:noFill/>
        </p:spPr>
        <p:txBody>
          <a:bodyPr wrap="square" lIns="190" tIns="190" rIns="190" bIns="190" rtlCol="0" anchor="ctr"/>
          <a:lstStyle/>
          <a:p>
            <a:r>
              <a:rPr lang="en-US" sz="1050" dirty="0">
                <a:solidFill>
                  <a:srgbClr val="526270"/>
                </a:solidFill>
                <a:latin typeface="Calibri"/>
              </a:rPr>
              <a:t>A single sentence becomes a matrix before it enters the Transformer.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75544" y="1920161"/>
            <a:ext cx="7749944" cy="377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250" b="1" i="1" dirty="0">
                <a:solidFill>
                  <a:srgbClr val="17324D"/>
                </a:solidFill>
                <a:latin typeface="Calibri"/>
              </a:rPr>
              <a:t>“What is the capital city of Ethiopia?”</a:t>
            </a:r>
            <a:endParaRPr lang="en-US" sz="22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01870" y="2365956"/>
            <a:ext cx="7338442" cy="219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526270"/>
                </a:solidFill>
                <a:latin typeface="Calibri"/>
              </a:rPr>
              <a:t>During both inference and training, the model first converts the sentence into tokens, then vectors.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86385" y="2914624"/>
            <a:ext cx="1028754" cy="480085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8687" y="3003782"/>
            <a:ext cx="864153" cy="315484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/>
          </a:bodyPr>
          <a:lstStyle/>
          <a:p>
            <a:pPr algn="ctr"/>
            <a:r>
              <a:rPr lang="en-US" sz="1125" b="1" dirty="0">
                <a:solidFill>
                  <a:srgbClr val="263238"/>
                </a:solidFill>
                <a:latin typeface="Calibri"/>
              </a:rPr>
              <a:t>Sentence</a:t>
            </a:r>
            <a:endParaRPr lang="en-US" sz="112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56289" y="3154666"/>
            <a:ext cx="390926" cy="0"/>
          </a:xfrm>
          <a:prstGeom prst="line">
            <a:avLst/>
          </a:prstGeom>
          <a:noFill/>
          <a:ln w="17780">
            <a:solidFill>
              <a:srgbClr val="52627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95225" y="2914624"/>
            <a:ext cx="1097337" cy="480085"/>
          </a:xfrm>
          <a:prstGeom prst="roundRect">
            <a:avLst>
              <a:gd name="adj" fmla="val 17143"/>
            </a:avLst>
          </a:prstGeom>
          <a:solidFill>
            <a:srgbClr val="E9F0F2"/>
          </a:solidFill>
          <a:ln w="12700">
            <a:solidFill>
              <a:srgbClr val="E9F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7525" y="3003782"/>
            <a:ext cx="932737" cy="315484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 lnSpcReduction="10000"/>
          </a:bodyPr>
          <a:lstStyle/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Token IDs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≈ 9 tokens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33711" y="3154666"/>
            <a:ext cx="390926" cy="0"/>
          </a:xfrm>
          <a:prstGeom prst="line">
            <a:avLst/>
          </a:prstGeom>
          <a:noFill/>
          <a:ln w="17780">
            <a:solidFill>
              <a:srgbClr val="52627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72647" y="2914624"/>
            <a:ext cx="1405963" cy="480085"/>
          </a:xfrm>
          <a:prstGeom prst="roundRect">
            <a:avLst>
              <a:gd name="adj" fmla="val 17143"/>
            </a:avLst>
          </a:prstGeom>
          <a:solidFill>
            <a:srgbClr val="F4E4D8"/>
          </a:solidFill>
          <a:ln w="12700">
            <a:solidFill>
              <a:srgbClr val="F4E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4947" y="3003782"/>
            <a:ext cx="1241363" cy="315484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 lnSpcReduction="10000"/>
          </a:bodyPr>
          <a:lstStyle/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Embedding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9 × 12,288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626618" y="3154666"/>
            <a:ext cx="390926" cy="0"/>
          </a:xfrm>
          <a:prstGeom prst="line">
            <a:avLst/>
          </a:prstGeom>
          <a:noFill/>
          <a:ln w="17780">
            <a:solidFill>
              <a:srgbClr val="52627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65554" y="2914624"/>
            <a:ext cx="1097337" cy="480085"/>
          </a:xfrm>
          <a:prstGeom prst="roundRect">
            <a:avLst>
              <a:gd name="adj" fmla="val 17143"/>
            </a:avLst>
          </a:prstGeom>
          <a:solidFill>
            <a:srgbClr val="E9F0F2"/>
          </a:solidFill>
          <a:ln w="12700">
            <a:solidFill>
              <a:srgbClr val="E9F0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7854" y="3003782"/>
            <a:ext cx="932737" cy="315484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 lnSpcReduction="10000"/>
          </a:bodyPr>
          <a:lstStyle/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Position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added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10898" y="3154666"/>
            <a:ext cx="390926" cy="0"/>
          </a:xfrm>
          <a:prstGeom prst="line">
            <a:avLst/>
          </a:prstGeom>
          <a:noFill/>
          <a:ln w="17780">
            <a:solidFill>
              <a:srgbClr val="52627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649833" y="2914624"/>
            <a:ext cx="1268796" cy="480085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133" y="3003782"/>
            <a:ext cx="1104196" cy="315484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 lnSpcReduction="10000"/>
          </a:bodyPr>
          <a:lstStyle/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Transformer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layers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312712" y="3977669"/>
            <a:ext cx="7544193" cy="891586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1D7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8462" y="4128553"/>
            <a:ext cx="2537592" cy="1714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7324D"/>
                </a:solidFill>
                <a:latin typeface="Calibri"/>
              </a:rPr>
              <a:t>Working assumption for the example</a:t>
            </a:r>
            <a:endParaRPr lang="en-US" sz="112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532179" y="4437179"/>
            <a:ext cx="994462" cy="301768"/>
          </a:xfrm>
          <a:prstGeom prst="roundRect">
            <a:avLst>
              <a:gd name="adj" fmla="val 27273"/>
            </a:avLst>
          </a:prstGeom>
          <a:solidFill>
            <a:srgbClr val="E9F0F2"/>
          </a:solidFill>
          <a:ln w="12700">
            <a:solidFill>
              <a:srgbClr val="E9F0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87045" y="4492046"/>
            <a:ext cx="884728" cy="1646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40" b="1" dirty="0">
                <a:solidFill>
                  <a:srgbClr val="17324D"/>
                </a:solidFill>
                <a:latin typeface="Calibri"/>
              </a:rPr>
              <a:t>Tokens ≈ 9</a:t>
            </a:r>
            <a:endParaRPr lang="en-US" sz="9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50092" y="4437179"/>
            <a:ext cx="1508839" cy="301768"/>
          </a:xfrm>
          <a:prstGeom prst="roundRect">
            <a:avLst>
              <a:gd name="adj" fmla="val 27273"/>
            </a:avLst>
          </a:prstGeom>
          <a:solidFill>
            <a:srgbClr val="E9F0F2"/>
          </a:solidFill>
          <a:ln w="12700">
            <a:solidFill>
              <a:srgbClr val="E9F0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4959" y="4492046"/>
            <a:ext cx="1399105" cy="1646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40" b="1" dirty="0">
                <a:solidFill>
                  <a:srgbClr val="17324D"/>
                </a:solidFill>
                <a:latin typeface="Calibri"/>
              </a:rPr>
              <a:t>Hidden size = 12,288</a:t>
            </a:r>
            <a:endParaRPr lang="en-US" sz="9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282380" y="4437179"/>
            <a:ext cx="994462" cy="301768"/>
          </a:xfrm>
          <a:prstGeom prst="roundRect">
            <a:avLst>
              <a:gd name="adj" fmla="val 27273"/>
            </a:avLst>
          </a:prstGeom>
          <a:solidFill>
            <a:srgbClr val="E9F0F2"/>
          </a:solidFill>
          <a:ln w="12700">
            <a:solidFill>
              <a:srgbClr val="E9F0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7247" y="4492046"/>
            <a:ext cx="884728" cy="1646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40" b="1" dirty="0">
                <a:solidFill>
                  <a:srgbClr val="17324D"/>
                </a:solidFill>
                <a:latin typeface="Calibri"/>
              </a:rPr>
              <a:t>Heads = 96</a:t>
            </a:r>
            <a:endParaRPr lang="en-US" sz="9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14010" y="4437179"/>
            <a:ext cx="1131629" cy="301768"/>
          </a:xfrm>
          <a:prstGeom prst="roundRect">
            <a:avLst>
              <a:gd name="adj" fmla="val 27273"/>
            </a:avLst>
          </a:prstGeom>
          <a:solidFill>
            <a:srgbClr val="E9F0F2"/>
          </a:solidFill>
          <a:ln w="12700">
            <a:solidFill>
              <a:srgbClr val="E9F0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8877" y="4492046"/>
            <a:ext cx="1021895" cy="1646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40" b="1" dirty="0">
                <a:solidFill>
                  <a:srgbClr val="17324D"/>
                </a:solidFill>
                <a:latin typeface="Calibri"/>
              </a:rPr>
              <a:t>FFN = 49,152</a:t>
            </a:r>
            <a:endParaRPr lang="en-US" sz="9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82806" y="4437179"/>
            <a:ext cx="1131629" cy="301768"/>
          </a:xfrm>
          <a:prstGeom prst="roundRect">
            <a:avLst>
              <a:gd name="adj" fmla="val 27273"/>
            </a:avLst>
          </a:prstGeom>
          <a:solidFill>
            <a:srgbClr val="E9F0F2"/>
          </a:solidFill>
          <a:ln w="12700">
            <a:solidFill>
              <a:srgbClr val="E9F0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37673" y="4492046"/>
            <a:ext cx="1021895" cy="1646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40" b="1" dirty="0">
                <a:solidFill>
                  <a:srgbClr val="17324D"/>
                </a:solidFill>
                <a:latin typeface="Calibri"/>
              </a:rPr>
              <a:t>Layers = 128</a:t>
            </a:r>
            <a:endParaRPr lang="en-US" sz="9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566470" y="5143589"/>
            <a:ext cx="7064108" cy="308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875" b="1" dirty="0">
                <a:solidFill>
                  <a:srgbClr val="D96C2C"/>
                </a:solidFill>
                <a:latin typeface="Calibri"/>
              </a:rPr>
              <a:t>Input matrix values: 9 × 12,288 = 110,592 numbers</a:t>
            </a:r>
            <a:endParaRPr lang="en-US" sz="1875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116"/>
            <a:ext cx="9144248" cy="5143768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01" y="857116"/>
            <a:ext cx="96017" cy="5143768"/>
          </a:xfrm>
          <a:prstGeom prst="rect">
            <a:avLst/>
          </a:prstGeom>
          <a:solidFill>
            <a:srgbClr val="D96C2C"/>
          </a:solidFill>
          <a:ln w="12700">
            <a:solidFill>
              <a:srgbClr val="D96C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68194" y="5747126"/>
            <a:ext cx="1165921" cy="137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640" dirty="0">
                <a:solidFill>
                  <a:srgbClr val="526270"/>
                </a:solidFill>
                <a:latin typeface="Calibri"/>
              </a:rPr>
              <a:t>Demystifying LLMs</a:t>
            </a:r>
            <a:endParaRPr lang="en-US" sz="6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46344" y="1090301"/>
            <a:ext cx="370351" cy="370351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/>
              </a:rPr>
              <a:t>2</a:t>
            </a: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12711" y="1042292"/>
            <a:ext cx="7407026" cy="342918"/>
          </a:xfrm>
          <a:prstGeom prst="rect">
            <a:avLst/>
          </a:prstGeom>
          <a:noFill/>
        </p:spPr>
        <p:txBody>
          <a:bodyPr wrap="square" lIns="190" tIns="190" rIns="190" bIns="190" rtlCol="0" anchor="ctr"/>
          <a:lstStyle/>
          <a:p>
            <a:r>
              <a:rPr lang="en-US" sz="2475" b="1" dirty="0">
                <a:solidFill>
                  <a:srgbClr val="17324D"/>
                </a:solidFill>
                <a:latin typeface="Calibri"/>
              </a:rPr>
              <a:t>Inference: The Model Only Predicts</a:t>
            </a:r>
            <a:endParaRPr lang="en-US" sz="247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26428" y="1446936"/>
            <a:ext cx="7407026" cy="205751"/>
          </a:xfrm>
          <a:prstGeom prst="rect">
            <a:avLst/>
          </a:prstGeom>
          <a:noFill/>
        </p:spPr>
        <p:txBody>
          <a:bodyPr wrap="square" lIns="190" tIns="190" rIns="190" bIns="190" rtlCol="0" anchor="ctr"/>
          <a:lstStyle/>
          <a:p>
            <a:r>
              <a:rPr lang="en-US" sz="1050" dirty="0">
                <a:solidFill>
                  <a:srgbClr val="526270"/>
                </a:solidFill>
                <a:latin typeface="Calibri"/>
              </a:rPr>
              <a:t>No weights are updated; the learned matrices are used to compute the next-token probability.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41253" y="1782995"/>
            <a:ext cx="3634929" cy="219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7324D"/>
                </a:solidFill>
                <a:latin typeface="Calibri"/>
              </a:rPr>
              <a:t>Inside one Transformer layer</a:t>
            </a: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75545" y="2125912"/>
            <a:ext cx="1508839" cy="582960"/>
          </a:xfrm>
          <a:prstGeom prst="roundRect">
            <a:avLst>
              <a:gd name="adj" fmla="val 14118"/>
            </a:avLst>
          </a:prstGeom>
          <a:solidFill>
            <a:srgbClr val="E9F0F2"/>
          </a:solidFill>
          <a:ln w="12700">
            <a:solidFill>
              <a:srgbClr val="E9F0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7844" y="2215071"/>
            <a:ext cx="1344238" cy="418360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/>
          </a:bodyPr>
          <a:lstStyle/>
          <a:p>
            <a:pPr algn="ctr"/>
            <a:r>
              <a:rPr lang="en-US" sz="1125" b="1" dirty="0">
                <a:solidFill>
                  <a:srgbClr val="263238"/>
                </a:solidFill>
                <a:latin typeface="Calibri"/>
              </a:rPr>
              <a:t>Q, K, V projections</a:t>
            </a:r>
            <a:endParaRPr lang="en-US" sz="1125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125" b="1" dirty="0">
                <a:solidFill>
                  <a:srgbClr val="263238"/>
                </a:solidFill>
                <a:latin typeface="Calibri"/>
              </a:rPr>
              <a:t>≈ 4.08B</a:t>
            </a:r>
            <a:endParaRPr lang="en-US" sz="112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746109" y="2420821"/>
            <a:ext cx="370351" cy="0"/>
          </a:xfrm>
          <a:prstGeom prst="line">
            <a:avLst/>
          </a:prstGeom>
          <a:noFill/>
          <a:ln w="17780">
            <a:solidFill>
              <a:srgbClr val="52627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71327" y="2071045"/>
            <a:ext cx="1371671" cy="692694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3627" y="2160204"/>
            <a:ext cx="1207071" cy="528094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Attention scores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+ value mixing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≈ 2M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11582" y="2420821"/>
            <a:ext cx="370351" cy="0"/>
          </a:xfrm>
          <a:prstGeom prst="line">
            <a:avLst/>
          </a:prstGeom>
          <a:noFill/>
          <a:ln w="17780">
            <a:solidFill>
              <a:srgbClr val="52627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36800" y="2125912"/>
            <a:ext cx="1440255" cy="582960"/>
          </a:xfrm>
          <a:prstGeom prst="roundRect">
            <a:avLst>
              <a:gd name="adj" fmla="val 14118"/>
            </a:avLst>
          </a:prstGeom>
          <a:solidFill>
            <a:srgbClr val="E9F0F2"/>
          </a:solidFill>
          <a:ln w="12700">
            <a:solidFill>
              <a:srgbClr val="E9F0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9099" y="2215071"/>
            <a:ext cx="1275654" cy="418360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/>
          </a:bodyPr>
          <a:lstStyle/>
          <a:p>
            <a:pPr algn="ctr"/>
            <a:r>
              <a:rPr lang="en-US" sz="1125" b="1" dirty="0">
                <a:solidFill>
                  <a:srgbClr val="263238"/>
                </a:solidFill>
                <a:latin typeface="Calibri"/>
              </a:rPr>
              <a:t>Output projection</a:t>
            </a:r>
            <a:endParaRPr lang="en-US" sz="1125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125" b="1" dirty="0">
                <a:solidFill>
                  <a:srgbClr val="263238"/>
                </a:solidFill>
                <a:latin typeface="Calibri"/>
              </a:rPr>
              <a:t>≈ 1.36B</a:t>
            </a:r>
            <a:endParaRPr lang="en-US" sz="112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531922" y="2420821"/>
            <a:ext cx="370351" cy="0"/>
          </a:xfrm>
          <a:prstGeom prst="line">
            <a:avLst/>
          </a:prstGeom>
          <a:noFill/>
          <a:ln w="17780">
            <a:solidFill>
              <a:srgbClr val="52627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57140" y="2071045"/>
            <a:ext cx="1748881" cy="692694"/>
          </a:xfrm>
          <a:prstGeom prst="roundRect">
            <a:avLst>
              <a:gd name="adj" fmla="val 11881"/>
            </a:avLst>
          </a:prstGeom>
          <a:solidFill>
            <a:srgbClr val="F4E4D8"/>
          </a:solidFill>
          <a:ln w="12700">
            <a:solidFill>
              <a:srgbClr val="F4E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39440" y="2160204"/>
            <a:ext cx="1584281" cy="528094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FFN expansion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+ compression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050" b="1" dirty="0">
                <a:solidFill>
                  <a:srgbClr val="263238"/>
                </a:solidFill>
                <a:latin typeface="Calibri"/>
              </a:rPr>
              <a:t>≈ 10.87B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09836" y="3154667"/>
            <a:ext cx="3532054" cy="137167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1D7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15587" y="3360417"/>
            <a:ext cx="3086261" cy="205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7324D"/>
                </a:solidFill>
                <a:latin typeface="Calibri"/>
              </a:rPr>
              <a:t>Approximate cost</a:t>
            </a: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415586" y="3723909"/>
            <a:ext cx="3154844" cy="308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D96C2C"/>
                </a:solidFill>
                <a:latin typeface="Calibri"/>
              </a:rPr>
              <a:t>≈ 16.31B calculations per layer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15586" y="4114837"/>
            <a:ext cx="3154844" cy="2400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263238"/>
                </a:solidFill>
                <a:latin typeface="Calibri"/>
              </a:rPr>
              <a:t>16.31B × 128 layers ≈ 2.09T</a:t>
            </a: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90558" y="3154667"/>
            <a:ext cx="3566346" cy="1371671"/>
          </a:xfrm>
          <a:prstGeom prst="roundRect">
            <a:avLst>
              <a:gd name="adj" fmla="val 9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6309" y="3422143"/>
            <a:ext cx="3154844" cy="4457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625" b="1" dirty="0">
                <a:solidFill>
                  <a:srgbClr val="FFFFFF"/>
                </a:solidFill>
                <a:latin typeface="Calibri"/>
              </a:rPr>
              <a:t>≈ 2.09 trillion</a:t>
            </a:r>
            <a:endParaRPr lang="en-US" sz="262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64894" y="3957094"/>
            <a:ext cx="3017677" cy="308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DDE7EA"/>
                </a:solidFill>
                <a:latin typeface="Calibri"/>
              </a:rPr>
              <a:t>calculations to prepare the next-token prediction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223552" y="5006422"/>
            <a:ext cx="7612776" cy="3429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7324D"/>
                </a:solidFill>
                <a:latin typeface="Calibri"/>
              </a:rPr>
              <a:t>The model then selects likely continuation tokens, for example: “Addis Ababa”.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116"/>
            <a:ext cx="9144248" cy="5143768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01" y="857116"/>
            <a:ext cx="96017" cy="5143768"/>
          </a:xfrm>
          <a:prstGeom prst="rect">
            <a:avLst/>
          </a:prstGeom>
          <a:solidFill>
            <a:srgbClr val="D96C2C"/>
          </a:solidFill>
          <a:ln w="12700">
            <a:solidFill>
              <a:srgbClr val="D96C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68194" y="5747126"/>
            <a:ext cx="1165921" cy="137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640" dirty="0">
                <a:solidFill>
                  <a:srgbClr val="526270"/>
                </a:solidFill>
                <a:latin typeface="Calibri"/>
              </a:rPr>
              <a:t>Demystifying LLMs</a:t>
            </a:r>
            <a:endParaRPr lang="en-US" sz="6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46344" y="1090301"/>
            <a:ext cx="370351" cy="370351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/>
              </a:rPr>
              <a:t>3</a:t>
            </a: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12711" y="1042292"/>
            <a:ext cx="7407026" cy="342918"/>
          </a:xfrm>
          <a:prstGeom prst="rect">
            <a:avLst/>
          </a:prstGeom>
          <a:noFill/>
        </p:spPr>
        <p:txBody>
          <a:bodyPr wrap="square" lIns="190" tIns="190" rIns="190" bIns="190" rtlCol="0" anchor="ctr"/>
          <a:lstStyle/>
          <a:p>
            <a:r>
              <a:rPr lang="en-US" sz="2475" b="1" dirty="0">
                <a:solidFill>
                  <a:srgbClr val="17324D"/>
                </a:solidFill>
                <a:latin typeface="Calibri"/>
              </a:rPr>
              <a:t>Training: Prediction + Correction</a:t>
            </a:r>
            <a:endParaRPr lang="en-US" sz="247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26428" y="1446936"/>
            <a:ext cx="7407026" cy="205751"/>
          </a:xfrm>
          <a:prstGeom prst="rect">
            <a:avLst/>
          </a:prstGeom>
          <a:noFill/>
        </p:spPr>
        <p:txBody>
          <a:bodyPr wrap="square" lIns="190" tIns="190" rIns="190" bIns="190" rtlCol="0" anchor="ctr"/>
          <a:lstStyle/>
          <a:p>
            <a:r>
              <a:rPr lang="en-US" sz="1050" dirty="0">
                <a:solidFill>
                  <a:srgbClr val="526270"/>
                </a:solidFill>
                <a:latin typeface="Calibri"/>
              </a:rPr>
              <a:t>Training is heavier because the model computes gradients and updates weights.</a:t>
            </a:r>
            <a:endParaRPr lang="en-US" sz="10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175545" y="1968170"/>
            <a:ext cx="1405963" cy="534952"/>
          </a:xfrm>
          <a:prstGeom prst="roundRect">
            <a:avLst>
              <a:gd name="adj" fmla="val 15385"/>
            </a:avLst>
          </a:prstGeom>
          <a:solidFill>
            <a:srgbClr val="E9F0F2"/>
          </a:solidFill>
          <a:ln w="12700">
            <a:solidFill>
              <a:srgbClr val="E9F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57845" y="2057330"/>
            <a:ext cx="1241363" cy="370351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/>
          </a:bodyPr>
          <a:lstStyle/>
          <a:p>
            <a:pPr algn="ctr"/>
            <a:r>
              <a:rPr lang="en-US" sz="1125" b="1" dirty="0">
                <a:solidFill>
                  <a:srgbClr val="263238"/>
                </a:solidFill>
                <a:latin typeface="Calibri"/>
              </a:rPr>
              <a:t>Forward pass</a:t>
            </a:r>
            <a:endParaRPr lang="en-US" sz="1125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125" b="1" dirty="0">
                <a:solidFill>
                  <a:srgbClr val="263238"/>
                </a:solidFill>
                <a:latin typeface="Calibri"/>
              </a:rPr>
              <a:t>make prediction</a:t>
            </a:r>
            <a:endParaRPr lang="en-US" sz="112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36374" y="2235646"/>
            <a:ext cx="301768" cy="0"/>
          </a:xfrm>
          <a:prstGeom prst="line">
            <a:avLst/>
          </a:prstGeom>
          <a:noFill/>
          <a:ln w="17780">
            <a:solidFill>
              <a:srgbClr val="52627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93009" y="1968170"/>
            <a:ext cx="1234504" cy="534952"/>
          </a:xfrm>
          <a:prstGeom prst="roundRect">
            <a:avLst>
              <a:gd name="adj" fmla="val 15385"/>
            </a:avLst>
          </a:prstGeom>
          <a:solidFill>
            <a:srgbClr val="F4E4D8"/>
          </a:solidFill>
          <a:ln w="12700">
            <a:solidFill>
              <a:srgbClr val="F4E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75309" y="2057330"/>
            <a:ext cx="1069904" cy="370351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/>
          </a:bodyPr>
          <a:lstStyle/>
          <a:p>
            <a:pPr algn="ctr"/>
            <a:r>
              <a:rPr lang="en-US" sz="1125" b="1" dirty="0">
                <a:solidFill>
                  <a:srgbClr val="263238"/>
                </a:solidFill>
                <a:latin typeface="Calibri"/>
              </a:rPr>
              <a:t>Loss</a:t>
            </a:r>
            <a:endParaRPr lang="en-US" sz="1125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125" b="1" dirty="0">
                <a:solidFill>
                  <a:srgbClr val="263238"/>
                </a:solidFill>
                <a:latin typeface="Calibri"/>
              </a:rPr>
              <a:t>how wrong?</a:t>
            </a:r>
            <a:endParaRPr lang="en-US" sz="112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82380" y="2235646"/>
            <a:ext cx="301768" cy="0"/>
          </a:xfrm>
          <a:prstGeom prst="line">
            <a:avLst/>
          </a:prstGeom>
          <a:noFill/>
          <a:ln w="17780">
            <a:solidFill>
              <a:srgbClr val="52627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39014" y="1968170"/>
            <a:ext cx="1577422" cy="53495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1315" y="2057330"/>
            <a:ext cx="1412822" cy="370351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/>
          </a:bodyPr>
          <a:lstStyle/>
          <a:p>
            <a:pPr algn="ctr"/>
            <a:r>
              <a:rPr lang="en-US" sz="1090" b="1" dirty="0">
                <a:solidFill>
                  <a:srgbClr val="263238"/>
                </a:solidFill>
                <a:latin typeface="Calibri"/>
              </a:rPr>
              <a:t>Backpropagation</a:t>
            </a:r>
            <a:endParaRPr lang="en-US" sz="109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090" b="1" dirty="0">
                <a:solidFill>
                  <a:srgbClr val="263238"/>
                </a:solidFill>
                <a:latin typeface="Calibri"/>
              </a:rPr>
              <a:t>who caused error?</a:t>
            </a:r>
            <a:endParaRPr lang="en-US" sz="109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271303" y="2235646"/>
            <a:ext cx="301768" cy="0"/>
          </a:xfrm>
          <a:prstGeom prst="line">
            <a:avLst/>
          </a:prstGeom>
          <a:noFill/>
          <a:ln w="17780">
            <a:solidFill>
              <a:srgbClr val="52627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27939" y="1968170"/>
            <a:ext cx="1440255" cy="534952"/>
          </a:xfrm>
          <a:prstGeom prst="roundRect">
            <a:avLst>
              <a:gd name="adj" fmla="val 15385"/>
            </a:avLst>
          </a:prstGeom>
          <a:solidFill>
            <a:srgbClr val="E9F0F2"/>
          </a:solidFill>
          <a:ln w="12700">
            <a:solidFill>
              <a:srgbClr val="E9F0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10238" y="2057330"/>
            <a:ext cx="1275654" cy="370351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/>
          </a:bodyPr>
          <a:lstStyle/>
          <a:p>
            <a:pPr algn="ctr"/>
            <a:r>
              <a:rPr lang="en-US" sz="1090" b="1" dirty="0">
                <a:solidFill>
                  <a:srgbClr val="263238"/>
                </a:solidFill>
                <a:latin typeface="Calibri"/>
              </a:rPr>
              <a:t>Weight update</a:t>
            </a:r>
            <a:endParaRPr lang="en-US" sz="109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090" b="1" dirty="0">
                <a:solidFill>
                  <a:srgbClr val="263238"/>
                </a:solidFill>
                <a:latin typeface="Calibri"/>
              </a:rPr>
              <a:t>change matrices</a:t>
            </a:r>
            <a:endParaRPr lang="en-US" sz="109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23060" y="2235646"/>
            <a:ext cx="301768" cy="0"/>
          </a:xfrm>
          <a:prstGeom prst="line">
            <a:avLst/>
          </a:prstGeom>
          <a:noFill/>
          <a:ln w="17780">
            <a:solidFill>
              <a:srgbClr val="52627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79695" y="1968170"/>
            <a:ext cx="823003" cy="53495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61995" y="2057330"/>
            <a:ext cx="658402" cy="370351"/>
          </a:xfrm>
          <a:prstGeom prst="rect">
            <a:avLst/>
          </a:prstGeom>
          <a:noFill/>
        </p:spPr>
        <p:txBody>
          <a:bodyPr wrap="square" lIns="190" tIns="190" rIns="190" bIns="190" rtlCol="0" anchor="ctr">
            <a:normAutofit/>
          </a:bodyPr>
          <a:lstStyle/>
          <a:p>
            <a:pPr algn="ctr"/>
            <a:r>
              <a:rPr lang="en-US" sz="1015" b="1" dirty="0">
                <a:solidFill>
                  <a:srgbClr val="263238"/>
                </a:solidFill>
                <a:latin typeface="Calibri"/>
              </a:rPr>
              <a:t>Next epoch</a:t>
            </a:r>
            <a:endParaRPr lang="en-US" sz="1015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015" b="1" dirty="0">
                <a:solidFill>
                  <a:srgbClr val="263238"/>
                </a:solidFill>
                <a:latin typeface="Calibri"/>
              </a:rPr>
              <a:t>repeat</a:t>
            </a:r>
            <a:endParaRPr lang="en-US" sz="101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278419" y="2948916"/>
            <a:ext cx="3463470" cy="144025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D7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7888" y="3154667"/>
            <a:ext cx="3017677" cy="205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17324D"/>
                </a:solidFill>
                <a:latin typeface="Calibri"/>
              </a:rPr>
              <a:t>Inference asks</a:t>
            </a:r>
            <a:endParaRPr lang="en-US" sz="127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504745" y="3566167"/>
            <a:ext cx="2949094" cy="308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950" b="1" dirty="0">
                <a:solidFill>
                  <a:srgbClr val="3C7A89"/>
                </a:solidFill>
                <a:latin typeface="Calibri"/>
              </a:rPr>
              <a:t>“What is the answer?”</a:t>
            </a:r>
            <a:endParaRPr lang="en-US" sz="19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04746" y="3991386"/>
            <a:ext cx="2983385" cy="1714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90" dirty="0">
                <a:solidFill>
                  <a:srgbClr val="526270"/>
                </a:solidFill>
                <a:latin typeface="Calibri"/>
              </a:rPr>
              <a:t>Uses learned weights only.</a:t>
            </a:r>
            <a:endParaRPr lang="en-US" sz="109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9142" y="2948916"/>
            <a:ext cx="3463470" cy="1440255"/>
          </a:xfrm>
          <a:prstGeom prst="roundRect">
            <a:avLst>
              <a:gd name="adj" fmla="val 85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8610" y="3154667"/>
            <a:ext cx="3017677" cy="205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/>
              </a:rPr>
              <a:t>Training asks</a:t>
            </a:r>
            <a:endParaRPr lang="en-US" sz="127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85469" y="3483867"/>
            <a:ext cx="2983385" cy="534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Calibri"/>
              </a:rPr>
              <a:t>“How wrong was I,</a:t>
            </a:r>
            <a:endParaRPr lang="en-US" sz="165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sz="1650" b="1" dirty="0">
                <a:solidFill>
                  <a:srgbClr val="FFFFFF"/>
                </a:solidFill>
                <a:latin typeface="Calibri"/>
              </a:rPr>
              <a:t>and how should I change?”</a:t>
            </a:r>
            <a:endParaRPr lang="en-US" sz="16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85469" y="4101120"/>
            <a:ext cx="2983385" cy="1714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90" dirty="0">
                <a:solidFill>
                  <a:srgbClr val="DDE7EA"/>
                </a:solidFill>
                <a:latin typeface="Calibri"/>
              </a:rPr>
              <a:t>Computes gradients and updates parameters.</a:t>
            </a:r>
            <a:endParaRPr lang="en-US" sz="109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72882" y="4800671"/>
            <a:ext cx="5658145" cy="576102"/>
          </a:xfrm>
          <a:prstGeom prst="roundRect">
            <a:avLst>
              <a:gd name="adj" fmla="val 16667"/>
            </a:avLst>
          </a:prstGeom>
          <a:solidFill>
            <a:srgbClr val="F4E4D8"/>
          </a:solidFill>
          <a:ln w="12700">
            <a:solidFill>
              <a:srgbClr val="F4E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048" y="4937839"/>
            <a:ext cx="5383810" cy="233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D96C2C"/>
                </a:solidFill>
                <a:latin typeface="Calibri"/>
              </a:rPr>
              <a:t>Approximate training cost: 3 × inference ≈ 6.3 trillion calculations</a:t>
            </a:r>
            <a:endParaRPr lang="en-US" sz="1575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539038" y="5534516"/>
            <a:ext cx="7201275" cy="1920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17324D"/>
                </a:solidFill>
                <a:latin typeface="Calibri"/>
              </a:rPr>
              <a:t>Key message: inference uses weights; training changes weights.</a:t>
            </a: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7385" y="472996"/>
            <a:ext cx="8064500" cy="553336"/>
          </a:xfrm>
          <a:solidFill>
            <a:srgbClr val="009FDA">
              <a:alpha val="0"/>
            </a:srgbClr>
          </a:solidFill>
        </p:spPr>
        <p:txBody>
          <a:bodyPr/>
          <a:lstStyle/>
          <a:p>
            <a:r>
              <a:rPr lang="en-US" sz="2400" dirty="0">
                <a:solidFill>
                  <a:schemeClr val="accent5"/>
                </a:solidFill>
              </a:rPr>
              <a:t>Imagine the number of Neurons and guess how Big LLMs are. 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rgbClr val="FFC000">
                  <a:lumMod val="40000"/>
                  <a:lumOff val="60000"/>
                </a:srgbClr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74725" y="2307128"/>
          <a:ext cx="8514842" cy="3898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84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796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Model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Parameters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Layers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Hidden Size 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MLP Size 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Neurons/Layer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6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GPT-3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175B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12,288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49,152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49,152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4.72m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6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GPT-4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~1.8T*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128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12,288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49,152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49,152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6.29m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6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PaLM-62B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62B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64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8,192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32,768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32,768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2.10m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96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PaLM-540B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540B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118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12,288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49,152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49,152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5.80m</a:t>
                      </a: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909320" y="1131113"/>
            <a:ext cx="8687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alibri"/>
              </a:rPr>
              <a:t>parameters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are the internal variables that the model learns during the training process.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Weights, Biases, Embedding vectors,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For GPT 4 128 layers, hidden size of 12,288 ~1.8 trillion by summing the parameters in layers. </a:t>
            </a:r>
          </a:p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333799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>
                <a:solidFill>
                  <a:schemeClr val="accent5"/>
                </a:solidFill>
              </a:rPr>
              <a:t>Transformer: Design Phase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77787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7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185" y="887136"/>
            <a:ext cx="7886700" cy="54978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472996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/>
              <a:t>A high-level look of Transformer 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8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02" y="2254190"/>
            <a:ext cx="8693597" cy="23496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09320" y="3312160"/>
            <a:ext cx="1717800" cy="314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እኔ ተማሪ ነኝ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472996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/>
              <a:t>A high-level look of Transformer </a:t>
            </a:r>
            <a:endParaRPr lang="en-US" sz="2400" dirty="0">
              <a:solidFill>
                <a:schemeClr val="accent5"/>
              </a:solidFill>
            </a:endParaRP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9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649" y="1676307"/>
            <a:ext cx="6864703" cy="3918154"/>
          </a:xfrm>
          <a:prstGeom prst="rect">
            <a:avLst/>
          </a:prstGeom>
        </p:spPr>
      </p:pic>
      <p:sp>
        <p:nvSpPr>
          <p:cNvPr id="12" name="Rectangle: Rounded Corners 11"/>
          <p:cNvSpPr/>
          <p:nvPr/>
        </p:nvSpPr>
        <p:spPr>
          <a:xfrm>
            <a:off x="3769360" y="4998720"/>
            <a:ext cx="1838960" cy="46736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እኔ ተማሪ ነኝ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472996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/>
              <a:t>A high-level look of Transformer </a:t>
            </a:r>
            <a:endParaRPr lang="en-US" sz="2400" dirty="0">
              <a:solidFill>
                <a:schemeClr val="accent5"/>
              </a:solidFill>
            </a:endParaRP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10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489" y="1635552"/>
            <a:ext cx="6787671" cy="4064209"/>
          </a:xfrm>
          <a:prstGeom prst="rect">
            <a:avLst/>
          </a:prstGeom>
        </p:spPr>
      </p:pic>
      <p:sp>
        <p:nvSpPr>
          <p:cNvPr id="9" name="Rectangle: Rounded Corners 8"/>
          <p:cNvSpPr/>
          <p:nvPr/>
        </p:nvSpPr>
        <p:spPr>
          <a:xfrm>
            <a:off x="3484880" y="5222450"/>
            <a:ext cx="1747520" cy="401086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እኔ ተማሪ ነኝ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319730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/>
              <a:t>A high-level look of Transformer </a:t>
            </a:r>
            <a:endParaRPr lang="en-US" sz="2400" dirty="0">
              <a:solidFill>
                <a:schemeClr val="accent5"/>
              </a:solidFill>
            </a:endParaRP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812289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11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: Rounded Corners 2"/>
          <p:cNvSpPr/>
          <p:nvPr/>
        </p:nvSpPr>
        <p:spPr>
          <a:xfrm>
            <a:off x="2743200" y="1394282"/>
            <a:ext cx="6492240" cy="4285159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/>
          <p:cNvSpPr/>
          <p:nvPr/>
        </p:nvSpPr>
        <p:spPr>
          <a:xfrm>
            <a:off x="3139440" y="1837141"/>
            <a:ext cx="5699760" cy="69983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&amp; Norm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3139440" y="3739351"/>
            <a:ext cx="5699760" cy="69983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&amp; Norm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3139440" y="2768561"/>
            <a:ext cx="5699760" cy="69983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 Forward </a:t>
            </a:r>
          </a:p>
        </p:txBody>
      </p:sp>
      <p:sp>
        <p:nvSpPr>
          <p:cNvPr id="10" name="Rectangle: Rounded Corners 9"/>
          <p:cNvSpPr/>
          <p:nvPr/>
        </p:nvSpPr>
        <p:spPr>
          <a:xfrm>
            <a:off x="3139440" y="4708996"/>
            <a:ext cx="5699760" cy="69983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Self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863506"/>
            <a:ext cx="2346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Encoder</a:t>
            </a:r>
            <a:r>
              <a:rPr lang="en-US" sz="2000" dirty="0"/>
              <a:t> 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989320" y="5679440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989320" y="4439187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984240" y="3468742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984240" y="2497952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908040" y="1128312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319730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/>
              <a:t>A high-level look of Transformer </a:t>
            </a:r>
            <a:endParaRPr lang="en-US" sz="2400" dirty="0">
              <a:solidFill>
                <a:schemeClr val="accent5"/>
              </a:solidFill>
            </a:endParaRP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812289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12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: Rounded Corners 2"/>
          <p:cNvSpPr/>
          <p:nvPr/>
        </p:nvSpPr>
        <p:spPr>
          <a:xfrm>
            <a:off x="2743200" y="1394282"/>
            <a:ext cx="6492240" cy="4925239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/>
          <p:cNvSpPr/>
          <p:nvPr/>
        </p:nvSpPr>
        <p:spPr>
          <a:xfrm>
            <a:off x="3119755" y="3158775"/>
            <a:ext cx="5699760" cy="4809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&amp; Norm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3119755" y="4842000"/>
            <a:ext cx="5699760" cy="5267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&amp; Norm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3119755" y="4013036"/>
            <a:ext cx="5699760" cy="51899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Encoder/Decoder Attention</a:t>
            </a:r>
            <a:r>
              <a:rPr lang="en-US" dirty="0"/>
              <a:t> </a:t>
            </a:r>
          </a:p>
        </p:txBody>
      </p:sp>
      <p:sp>
        <p:nvSpPr>
          <p:cNvPr id="10" name="Rectangle: Rounded Corners 9"/>
          <p:cNvSpPr/>
          <p:nvPr/>
        </p:nvSpPr>
        <p:spPr>
          <a:xfrm>
            <a:off x="3139440" y="5634682"/>
            <a:ext cx="5699760" cy="5707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Self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863506"/>
            <a:ext cx="2346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Decoder</a:t>
            </a:r>
            <a:endParaRPr lang="en-US" sz="2000" dirty="0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984240" y="2497952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/>
          <p:cNvSpPr/>
          <p:nvPr/>
        </p:nvSpPr>
        <p:spPr>
          <a:xfrm>
            <a:off x="3139440" y="2265612"/>
            <a:ext cx="5699760" cy="51899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 Forward 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3139440" y="1562788"/>
            <a:ext cx="5699760" cy="4809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&amp; Norm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984240" y="1128312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6124575" y="6295106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6096000" y="5364073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6096000" y="4532032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6058535" y="3721596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058535" y="2784608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5977255" y="1995003"/>
            <a:ext cx="0" cy="27060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472996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/>
              <a:t>A high-level look of Transformer </a:t>
            </a:r>
            <a:endParaRPr lang="en-US" sz="2400" dirty="0">
              <a:solidFill>
                <a:schemeClr val="accent5"/>
              </a:solidFill>
            </a:endParaRP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13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168" y="2003760"/>
            <a:ext cx="6502734" cy="38927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38112" y="5669280"/>
            <a:ext cx="1473200" cy="227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እኔ</a:t>
            </a:r>
          </a:p>
        </p:txBody>
      </p:sp>
      <p:sp>
        <p:nvSpPr>
          <p:cNvPr id="8" name="Rectangle 7"/>
          <p:cNvSpPr/>
          <p:nvPr/>
        </p:nvSpPr>
        <p:spPr>
          <a:xfrm>
            <a:off x="5207635" y="5683150"/>
            <a:ext cx="1473200" cy="227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ተማሪ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80688" y="5676215"/>
            <a:ext cx="1473200" cy="227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ነኝ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472996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pPr fontAlgn="base"/>
            <a:r>
              <a:rPr lang="en-US" sz="2400" dirty="0"/>
              <a:t>Self-Attention at a High Level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14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686" y="2594096"/>
            <a:ext cx="5673754" cy="34961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5686" y="1788161"/>
            <a:ext cx="7100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the sentence” Ethiopia is an Ancient country in the world. The attention between each word looks like this using </a:t>
            </a:r>
            <a:r>
              <a:rPr lang="en-US" dirty="0" err="1"/>
              <a:t>BERTViz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810000" y="2634736"/>
            <a:ext cx="182880" cy="271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472996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pPr fontAlgn="base"/>
            <a:r>
              <a:rPr lang="en-US" sz="2400" dirty="0"/>
              <a:t>Self-Attention in Detail 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15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8480" y="1981199"/>
          <a:ext cx="8270240" cy="3009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23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Transformer Component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Definition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3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Query (Q)(512X512) divided in 8 heads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I am looking for this.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3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Key (K)(512X512) divided in 8 heads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I do have this.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3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Value (V)(512X512) divided in 8 heads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The actual value.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909321" y="1036456"/>
            <a:ext cx="6581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Each token presents itself in three vectors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"The trophy wouldn't fit in the suitcase because it was too small.“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"The trophy wouldn't fit in the suitcase because it was too big." 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472996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>
                <a:solidFill>
                  <a:schemeClr val="accent5"/>
                </a:solidFill>
              </a:rPr>
              <a:t>What is a Transformer??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16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94560" y="1158241"/>
            <a:ext cx="4795520" cy="386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b="1" dirty="0"/>
              <a:t>Self-Attention in Detail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5185" y="1783465"/>
            <a:ext cx="752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sentence “The capital city of Ethiopia is Addis Ababa,” each token has three vectors: The Q, The K and The V.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55" y="2616269"/>
            <a:ext cx="6236020" cy="356888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31360" y="2743200"/>
            <a:ext cx="1087120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Capital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7562" y="2743200"/>
            <a:ext cx="1087120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3562" y="3464242"/>
            <a:ext cx="1087120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512X64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4" y="3463924"/>
            <a:ext cx="1087120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512X64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7082" y="3184842"/>
            <a:ext cx="1087120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512X512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472996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/>
              <a:t>Self-Attention in Detail 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17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331" y="2282766"/>
            <a:ext cx="5607338" cy="2292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60320" y="5181600"/>
            <a:ext cx="7071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Then all 8 heads are concatenated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output projections are done to combine each head contribution 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844800" y="1422400"/>
            <a:ext cx="436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Attention is calculated using this formula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472996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>
                <a:solidFill>
                  <a:schemeClr val="accent5"/>
                </a:solidFill>
              </a:rPr>
              <a:t>Add &amp; Norm Layer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18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0" y="1026333"/>
            <a:ext cx="6339840" cy="44476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88084" y="5238956"/>
            <a:ext cx="1168396" cy="199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Capital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659882" y="5215358"/>
            <a:ext cx="1087120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city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257453"/>
            <a:ext cx="7886700" cy="400764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>
                <a:solidFill>
                  <a:schemeClr val="accent5"/>
                </a:solidFill>
              </a:rPr>
              <a:t>Feed Forward Layer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092325" y="69296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19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: Rounded Corners 2"/>
          <p:cNvSpPr/>
          <p:nvPr/>
        </p:nvSpPr>
        <p:spPr>
          <a:xfrm>
            <a:off x="2885440" y="1666240"/>
            <a:ext cx="6400800" cy="371856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E37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/>
          <p:cNvSpPr/>
          <p:nvPr/>
        </p:nvSpPr>
        <p:spPr>
          <a:xfrm>
            <a:off x="3937000" y="2397760"/>
            <a:ext cx="4297680" cy="79248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 Forward Layer(512X2048)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3998595" y="3667761"/>
            <a:ext cx="4297680" cy="79248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 Forward Layer(2048X512)</a:t>
            </a:r>
          </a:p>
        </p:txBody>
      </p:sp>
      <p:sp>
        <p:nvSpPr>
          <p:cNvPr id="8" name="Arrow: Up 7"/>
          <p:cNvSpPr/>
          <p:nvPr/>
        </p:nvSpPr>
        <p:spPr>
          <a:xfrm>
            <a:off x="5856924" y="5465908"/>
            <a:ext cx="375285" cy="5588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28503" y="6093632"/>
            <a:ext cx="313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Input from Add &amp; Norm Layer </a:t>
            </a:r>
          </a:p>
        </p:txBody>
      </p:sp>
      <p:sp>
        <p:nvSpPr>
          <p:cNvPr id="10" name="Arrow: Up 9"/>
          <p:cNvSpPr/>
          <p:nvPr/>
        </p:nvSpPr>
        <p:spPr>
          <a:xfrm>
            <a:off x="5821681" y="3108961"/>
            <a:ext cx="375285" cy="5588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Up 11"/>
          <p:cNvSpPr/>
          <p:nvPr/>
        </p:nvSpPr>
        <p:spPr>
          <a:xfrm>
            <a:off x="5821681" y="1156401"/>
            <a:ext cx="375285" cy="5588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245360" y="740907"/>
            <a:ext cx="938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Used to find out the relationship between each property within the token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081" y="472996"/>
            <a:ext cx="9011919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/>
              <a:t>Analogy: Ethiopian Market Meets Query–Key–Value Attention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20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85633" y="1221234"/>
            <a:ext cx="85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Imagine a busy </a:t>
            </a:r>
            <a:r>
              <a:rPr lang="en-US" b="1" dirty="0"/>
              <a:t>Saturday market in Bahir Dar</a:t>
            </a:r>
            <a:r>
              <a:rPr lang="en-US" dirty="0"/>
              <a:t>. Each </a:t>
            </a:r>
            <a:r>
              <a:rPr lang="en-US" b="1" dirty="0"/>
              <a:t>person</a:t>
            </a:r>
            <a:r>
              <a:rPr lang="en-US" dirty="0"/>
              <a:t> in the market brings something to sell and looks for something to buy, like tokens in a sentence.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0" y="299212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395979" y="4653280"/>
            <a:ext cx="78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08480" y="1981199"/>
          <a:ext cx="8270240" cy="3009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23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Transformer Component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Ethiopian Market Analogy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3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Query (Q)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A buyer walking around the market looking for specific goods (e.g., 'I want red onions').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3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Key (K)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A seller’s label or sign saying what they offer ('I have red onions,' 'I have teff').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3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Value (V)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The actual goods behind the stall (the onions, the teff, etc.).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985" y="491477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/>
              <a:t>What provides the power to the Transformer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21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0" y="1635760"/>
            <a:ext cx="89408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deep learning weight, head and layer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 </a:t>
            </a:r>
            <a:r>
              <a:rPr lang="en-US" b="1" dirty="0"/>
              <a:t>gradient</a:t>
            </a:r>
            <a:r>
              <a:rPr lang="en-US" dirty="0"/>
              <a:t> of a function f(x) at point x points in the direction of the </a:t>
            </a:r>
            <a:r>
              <a:rPr lang="en-US" b="1" dirty="0"/>
              <a:t>steepest increase</a:t>
            </a:r>
            <a:r>
              <a:rPr lang="en-US" dirty="0"/>
              <a:t> of f(x).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Negative of f(X) points toward the </a:t>
            </a:r>
            <a:r>
              <a:rPr lang="en-US" b="1" dirty="0"/>
              <a:t>steepest decrease</a:t>
            </a:r>
            <a:r>
              <a:rPr lang="en-US" dirty="0"/>
              <a:t> — this is why gradient descent uses it to </a:t>
            </a:r>
            <a:r>
              <a:rPr lang="en-US" dirty="0" err="1"/>
              <a:t>minimise</a:t>
            </a:r>
            <a:r>
              <a:rPr lang="en-US" dirty="0"/>
              <a:t> loss.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 magnitude (or norm) of the gradient vector indicates how steep the slope is.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Large gradient → large update (fast movement).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Small gradient → small update (slow movement or stagnation).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At a local minimum, the gradient tends to zero → the update stops.(one of the problem)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 </a:t>
            </a:r>
            <a:r>
              <a:rPr lang="en-US" dirty="0" err="1"/>
              <a:t>behaviour</a:t>
            </a:r>
            <a:r>
              <a:rPr lang="en-US" dirty="0"/>
              <a:t> of gradient descent depends heavily on </a:t>
            </a:r>
            <a:r>
              <a:rPr lang="en-US" b="1" dirty="0"/>
              <a:t>initial weights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Gradient derivation is local: it only tells you about the function's slope at a specific point, not the global shape.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It may lead to local minima, saddle points, or plateaus unless handled with proper </a:t>
            </a:r>
            <a:r>
              <a:rPr lang="en-US" dirty="0" err="1"/>
              <a:t>optimisation</a:t>
            </a:r>
            <a:r>
              <a:rPr lang="en-US" dirty="0"/>
              <a:t> techniques (e.g., momentum, Adam).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Emergent Specialization through Optimization and Inductive Bias.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Earlier layers have access to the raw input structure.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Deeper layers work on already-abstracted features.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825" y="500956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/>
              <a:t>Why Specialization Emerges (Mathematically &amp; Intuitively)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22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0" y="1635760"/>
            <a:ext cx="894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Gradient updates</a:t>
            </a:r>
            <a:r>
              <a:rPr lang="en-US" dirty="0"/>
              <a:t> shape the entire layer/head's parameters based on </a:t>
            </a:r>
            <a:r>
              <a:rPr lang="en-US" i="1" dirty="0"/>
              <a:t>what helps minimize the loss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If Head 3 attending to syntactic structure consistently reduces the loss more than others trying the same thing, then gradient descent will </a:t>
            </a:r>
            <a:r>
              <a:rPr lang="en-US" b="1" dirty="0"/>
              <a:t>push Head 3 further in that role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Over time, </a:t>
            </a:r>
            <a:r>
              <a:rPr lang="en-US" b="1" dirty="0"/>
              <a:t>functional roles emerge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This is a kind of </a:t>
            </a:r>
            <a:r>
              <a:rPr lang="en-US" b="1" dirty="0"/>
              <a:t>soft modularity via </a:t>
            </a:r>
            <a:r>
              <a:rPr lang="en-US" b="1" dirty="0" err="1"/>
              <a:t>optimisation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472996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</a:rPr>
              <a:t>BERT show the following(BERT Topology paper)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23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18640" y="1661160"/>
          <a:ext cx="7670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58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Layer Depth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Typical Role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Shallow layers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Learn local and syntactic patterns (e.g., POS tags, phrase structure)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Middle layers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Encode semantic relationships (e.g., sentence-level meaning, paraphrasing)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Deeper layers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Align with task-specific features (e.g., QA, NLI, etc.)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472996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</a:rPr>
              <a:t>Large Language Models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24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0" y="1635760"/>
            <a:ext cx="894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47558" y="1124308"/>
            <a:ext cx="78936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"Large language models are foundation models trained on large-scale corpora of text data using self-supervised learning and transformer architectures, capable of performing a wide range of downstream natural language processing tasks."</a:t>
            </a:r>
            <a:br>
              <a:rPr lang="en-US" dirty="0"/>
            </a:br>
            <a:r>
              <a:rPr lang="en-US" dirty="0"/>
              <a:t>— </a:t>
            </a:r>
            <a:r>
              <a:rPr lang="en-US" i="1" dirty="0" err="1"/>
              <a:t>Bommasani</a:t>
            </a:r>
            <a:r>
              <a:rPr lang="en-US" i="1" dirty="0"/>
              <a:t> et al., “On the Opportunities and Risks of Foundation Models”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/>
          <p:cNvSpPr/>
          <p:nvPr/>
        </p:nvSpPr>
        <p:spPr>
          <a:xfrm>
            <a:off x="1909320" y="2561709"/>
            <a:ext cx="8628066" cy="2075102"/>
          </a:xfrm>
          <a:prstGeom prst="roundRect">
            <a:avLst/>
          </a:prstGeom>
          <a:solidFill>
            <a:srgbClr val="00B050">
              <a:alpha val="0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I 챗봇에 대한 이해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320" y="662862"/>
            <a:ext cx="2155386" cy="151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/>
          <p:cNvSpPr/>
          <p:nvPr/>
        </p:nvSpPr>
        <p:spPr>
          <a:xfrm>
            <a:off x="1909320" y="497841"/>
            <a:ext cx="8536626" cy="1816179"/>
          </a:xfrm>
          <a:prstGeom prst="roundRect">
            <a:avLst/>
          </a:prstGeom>
          <a:solidFill>
            <a:schemeClr val="accent1">
              <a:alpha val="0"/>
            </a:schemeClr>
          </a:solidFill>
          <a:ln w="28575">
            <a:solidFill>
              <a:srgbClr val="E37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320" y="808950"/>
            <a:ext cx="2372360" cy="116717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449" y="808950"/>
            <a:ext cx="2155386" cy="122689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680" y="2613739"/>
            <a:ext cx="2022546" cy="151138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760" y="2755980"/>
            <a:ext cx="1381760" cy="1226899"/>
          </a:xfrm>
          <a:prstGeom prst="rect">
            <a:avLst/>
          </a:prstGeom>
        </p:spPr>
      </p:pic>
      <p:sp>
        <p:nvSpPr>
          <p:cNvPr id="19" name="Rectangle: Rounded Corners 18"/>
          <p:cNvSpPr/>
          <p:nvPr/>
        </p:nvSpPr>
        <p:spPr>
          <a:xfrm>
            <a:off x="4267960" y="2805551"/>
            <a:ext cx="2372360" cy="1323261"/>
          </a:xfrm>
          <a:prstGeom prst="roundRect">
            <a:avLst/>
          </a:prstGeom>
          <a:solidFill>
            <a:schemeClr val="accent1">
              <a:alpha val="3000"/>
            </a:schemeClr>
          </a:solidFill>
          <a:ln w="349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/>
            <a:r>
              <a:rPr lang="en-US" sz="1600" dirty="0">
                <a:solidFill>
                  <a:schemeClr val="accent2"/>
                </a:solidFill>
                <a:latin typeface="Calibri" panose="020F0502020204030204" charset="0"/>
              </a:rPr>
              <a:t>["[CLS]", "the", "capital", "of", "</a:t>
            </a:r>
            <a:r>
              <a:rPr lang="en-US" sz="1600" dirty="0" err="1">
                <a:solidFill>
                  <a:schemeClr val="accent2"/>
                </a:solidFill>
                <a:latin typeface="Calibri" panose="020F0502020204030204" charset="0"/>
              </a:rPr>
              <a:t>ethiopia</a:t>
            </a:r>
            <a:r>
              <a:rPr lang="en-US" sz="1600" dirty="0">
                <a:solidFill>
                  <a:schemeClr val="accent2"/>
                </a:solidFill>
                <a:latin typeface="Calibri" panose="020F0502020204030204" charset="0"/>
              </a:rPr>
              <a:t>", "is", "add", "##is",  “</a:t>
            </a:r>
            <a:r>
              <a:rPr lang="en-US" sz="1600" dirty="0" err="1">
                <a:solidFill>
                  <a:schemeClr val="accent2"/>
                </a:solidFill>
                <a:latin typeface="Calibri" panose="020F0502020204030204" charset="0"/>
              </a:rPr>
              <a:t>ababa</a:t>
            </a:r>
            <a:r>
              <a:rPr lang="en-US" sz="1600" dirty="0">
                <a:solidFill>
                  <a:schemeClr val="accent2"/>
                </a:solidFill>
                <a:latin typeface="Calibri" panose="020F0502020204030204" charset="0"/>
              </a:rPr>
              <a:t>“, “.", "[SEP]"]</a:t>
            </a:r>
          </a:p>
        </p:txBody>
      </p:sp>
      <p:sp>
        <p:nvSpPr>
          <p:cNvPr id="20" name="Rectangle: Rounded Corners 19"/>
          <p:cNvSpPr/>
          <p:nvPr/>
        </p:nvSpPr>
        <p:spPr>
          <a:xfrm>
            <a:off x="2013526" y="2848405"/>
            <a:ext cx="1837441" cy="1323261"/>
          </a:xfrm>
          <a:prstGeom prst="roundRect">
            <a:avLst/>
          </a:prstGeom>
          <a:solidFill>
            <a:schemeClr val="accent1">
              <a:alpha val="3000"/>
            </a:schemeClr>
          </a:solidFill>
          <a:ln w="349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/>
            <a:r>
              <a:rPr lang="en-US" sz="1600" dirty="0">
                <a:solidFill>
                  <a:schemeClr val="accent2"/>
                </a:solidFill>
                <a:latin typeface="Calibri" panose="020F0502020204030204" charset="0"/>
              </a:rPr>
              <a:t>[101, 1996, 3007, 1997, 11567, 2003, 2799, 4280, 1012, 102]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675" y="4903551"/>
            <a:ext cx="4714365" cy="1035103"/>
          </a:xfrm>
          <a:prstGeom prst="rect">
            <a:avLst/>
          </a:prstGeom>
        </p:spPr>
      </p:pic>
      <p:sp>
        <p:nvSpPr>
          <p:cNvPr id="6" name="Rectangle: Rounded Corners 5"/>
          <p:cNvSpPr/>
          <p:nvPr/>
        </p:nvSpPr>
        <p:spPr>
          <a:xfrm>
            <a:off x="6602983" y="5023965"/>
            <a:ext cx="1513839" cy="56896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Linear Transformer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8176765" y="5023965"/>
            <a:ext cx="1513839" cy="56896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41" name="Arrow: Right 40"/>
          <p:cNvSpPr/>
          <p:nvPr/>
        </p:nvSpPr>
        <p:spPr>
          <a:xfrm>
            <a:off x="2920593" y="1209040"/>
            <a:ext cx="6223408" cy="391854"/>
          </a:xfrm>
          <a:prstGeom prst="rightArrow">
            <a:avLst/>
          </a:prstGeom>
          <a:solidFill>
            <a:srgbClr val="7030A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Curved Left 41"/>
          <p:cNvSpPr/>
          <p:nvPr/>
        </p:nvSpPr>
        <p:spPr>
          <a:xfrm>
            <a:off x="8890001" y="1315720"/>
            <a:ext cx="1137920" cy="2075102"/>
          </a:xfrm>
          <a:prstGeom prst="curvedLeftArrow">
            <a:avLst>
              <a:gd name="adj1" fmla="val 25000"/>
              <a:gd name="adj2" fmla="val 50000"/>
              <a:gd name="adj3" fmla="val 26149"/>
            </a:avLst>
          </a:prstGeom>
          <a:solidFill>
            <a:srgbClr val="7030A0">
              <a:alpha val="4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Left 42"/>
          <p:cNvSpPr/>
          <p:nvPr/>
        </p:nvSpPr>
        <p:spPr>
          <a:xfrm>
            <a:off x="2580640" y="2948862"/>
            <a:ext cx="6309360" cy="441960"/>
          </a:xfrm>
          <a:prstGeom prst="leftArrow">
            <a:avLst/>
          </a:prstGeom>
          <a:solidFill>
            <a:srgbClr val="7030A0">
              <a:alpha val="4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Curved Right 43"/>
          <p:cNvSpPr/>
          <p:nvPr/>
        </p:nvSpPr>
        <p:spPr>
          <a:xfrm>
            <a:off x="1641220" y="3075328"/>
            <a:ext cx="889380" cy="2390752"/>
          </a:xfrm>
          <a:prstGeom prst="curvedRightArrow">
            <a:avLst/>
          </a:prstGeom>
          <a:solidFill>
            <a:srgbClr val="7030A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Arrow: Right 44"/>
          <p:cNvSpPr/>
          <p:nvPr/>
        </p:nvSpPr>
        <p:spPr>
          <a:xfrm>
            <a:off x="2530601" y="5095979"/>
            <a:ext cx="5586221" cy="391854"/>
          </a:xfrm>
          <a:prstGeom prst="rightArrow">
            <a:avLst/>
          </a:prstGeom>
          <a:solidFill>
            <a:srgbClr val="7030A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245" y="148679"/>
            <a:ext cx="7886700" cy="553336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>
                <a:solidFill>
                  <a:schemeClr val="accent1"/>
                </a:solidFill>
              </a:rPr>
              <a:t>What has happened inside the LLMs: BERT as a showcase  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1909320" y="667091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26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9321" y="844043"/>
            <a:ext cx="454342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Phases in the Training and Inference of Large Language Models (LLMs)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Preprocessing Phase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Corpus Preparation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Vocabulary Construction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Tokenization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Training Phase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Input Embedding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Positional Embedding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Self-Attention Mechanism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Output Projection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Add &amp; Layer Normalization (Add &amp; Norm)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Feedforward Network (FFN)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Add &amp; Layer Normalization (Add &amp; Norm)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Output Layer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Loss Computation</a:t>
            </a:r>
          </a:p>
          <a:p>
            <a:endParaRPr lang="en-US" dirty="0"/>
          </a:p>
          <a:p>
            <a:pPr marL="342900" indent="-342900">
              <a:buFont typeface="+mj-lt"/>
              <a:buAutoNum type="arabicParenR"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23281" y="1892500"/>
            <a:ext cx="46634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dirty="0" err="1"/>
              <a:t>Optimisation</a:t>
            </a:r>
            <a:r>
              <a:rPr lang="en-US" dirty="0"/>
              <a:t> (Backpropagation and Weight Update)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Gradient Computation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Weight Update	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Inference Phase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Tokenization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Forward Pass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Prediction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Decoding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185" y="251063"/>
            <a:ext cx="7886700" cy="789782"/>
          </a:xfrm>
          <a:noFill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14:hiddenFill>
            </a:ext>
          </a:extLst>
        </p:spPr>
        <p:txBody>
          <a:bodyPr/>
          <a:lstStyle/>
          <a:p>
            <a:r>
              <a:rPr lang="en-US" sz="2400" dirty="0"/>
              <a:t>Human vs. LLMs: A Comparison of Reading Speed, Training Time, and Resource Demands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4" name="Straight Connector 103"/>
          <p:cNvCxnSpPr/>
          <p:nvPr/>
        </p:nvCxnSpPr>
        <p:spPr>
          <a:xfrm flipV="1">
            <a:off x="2115185" y="991236"/>
            <a:ext cx="8064500" cy="3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Slide Number Placeholder 5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t>27</a:t>
            </a:fld>
            <a:endParaRPr lang="en-US"/>
          </a:p>
        </p:txBody>
      </p:sp>
      <p:sp>
        <p:nvSpPr>
          <p:cNvPr id="11" name="Subtitle 9"/>
          <p:cNvSpPr>
            <a:spLocks noGrp="1"/>
          </p:cNvSpPr>
          <p:nvPr/>
        </p:nvSpPr>
        <p:spPr>
          <a:xfrm>
            <a:off x="6124576" y="6593206"/>
            <a:ext cx="4543425" cy="3028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A1"/>
              </a:buClr>
              <a:buFont typeface="LucidaGrande" charset="0"/>
              <a:buNone/>
              <a:defRPr sz="28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LucidaGrande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A1"/>
              </a:buClr>
              <a:buFont typeface="Courier New" panose="0207030902020502040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0" y="1635760"/>
            <a:ext cx="894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90115" y="991235"/>
          <a:ext cx="7886700" cy="5275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248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Dimension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PaLM Specification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Human Equivalent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8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Model Name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PaLM 540B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—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955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Training Tokens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3 trillion tokens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Equivalent to ~2 million full-length books (e.g., Proust’s In Search of Lost Time)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61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Epochs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1.56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Each token is seen ~1.5 times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48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Total Tokens Processed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4.68 trillion tokens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—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061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Average Reading Speed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—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~267 tokens per minute (≈200 words per minute)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061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Daily Reading Capacity (24/7)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—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~384,480 tokens per day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061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Time to Read Once (1 Epoch)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—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~7.8 million days (≈21,369 years)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061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Time to Read Full Training Set (1.56 Epochs)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—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~12.2 million days (≈33,331 years)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8955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Compute vs Cognition Insight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Trained in weeks using TPU pods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Would take a human over 33,000 years to replicate reading input alone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You Need This Session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Hub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GitHub of AI. Over a million models and hundreds of thousands of datasets, mostly free.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1208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800" y="1673352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672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2728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2376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text into pieces the model understands. Each model has its own — they are not interchangeable.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3776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8368" y="1673352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7240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296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4944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examples you train on. Today: 83,000 Amharic conversations.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293108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4119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documentation page. Says what data it saw, its licence, and where it fails.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1208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5800" y="4293108"/>
            <a:ext cx="457200" cy="457200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4672" y="44119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62728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32376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performs BEFORE you change anything. Skip this and you can prove nothing.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3776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8368" y="4293108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7240" y="44119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5296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format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14944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raw data as 'question then answer' so the model learns to respond.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THE TOKENIZER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Amharic Costs Three Times More</a:t>
            </a:r>
            <a:endParaRPr lang="en-US" sz="3100" dirty="0"/>
          </a:p>
        </p:txBody>
      </p:sp>
      <p:pic>
        <p:nvPicPr>
          <p:cNvPr id="4" name="Image 0" descr="tokeni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417320"/>
            <a:ext cx="86868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Qwen's tokenizer was trained mostly on English and Chinese. Ge'ez script gets chopped into many small pieces.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58064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6F00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806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in practice: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sentence costs 3x more memory, 3x more time, and hits the length limit 3x sooner.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2A: Measure It Yourself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3657600"/>
          </a:xfrm>
          <a:prstGeom prst="roundRect">
            <a:avLst>
              <a:gd name="adj" fmla="val 1500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640080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AutoTokenizer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 = AutoTokenizer.from_pretrained("Qwen/Qwen2-0.5B-Instruct")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= "How can I track my order?"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 = "ትዕዛዜን እንዴት ልከታተለው እችላለሁ?"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print("English:", len(tok.encode(en)), "tokens")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print("Amharic:", len(tok.encode(am)), "tokens")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Look at HOW it splits the Amharic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print(tok.tokenize(am))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0" y="1600200"/>
            <a:ext cx="4142232" cy="3657600"/>
          </a:xfrm>
          <a:prstGeom prst="roundRect">
            <a:avLst>
              <a:gd name="adj" fmla="val 2500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0" y="22402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uses far more tokens for the same meaning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tokens are single characters or fragments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show as broken bytes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fairness problem, not just a technical 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Amharic query costs 3x an English one, who pays for that — and what does it mean for local AI?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(30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2B: The Baseline — Do This FIRST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F6F0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7335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82788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087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fine-tune first and test afterwards, you have no proof anything improved. Record the baseline NOW.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761488"/>
            <a:ext cx="1072591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= [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"ስለ ምርታችሁ ዋጋ ማወቅ እፈልጋለሁ።",       # pricing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"ትዕዛዜን እንዴት ልከታተለው እችላለሁ?",      # order tracking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"ምርቱን መመለስ ከፈለኩ ምን ማድረግ አለብኝ?",  # returns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= {}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q in QUESTIONS: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before[q] = ask(model, q)     # save every answer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print(q, '-&gt;', before[q][:120])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C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'before' dictionary alive all day.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compares against it. If your session restarts, you must re-run this cell.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(35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2C: Load a Real Amharic Dataset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0" cy="3017520"/>
          </a:xfrm>
          <a:prstGeom prst="roundRect">
            <a:avLst>
              <a:gd name="adj" fmla="val 1818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621792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datasets import load_dataset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load_dataset("addisai/FineTome-single-turn-dedup-amharic",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split="train")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print(f"{len(raw):,} examples")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print(raw.column_names)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LOOK at your data before training on it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print(raw[0])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25112" cy="3017520"/>
          </a:xfrm>
          <a:prstGeom prst="roundRect">
            <a:avLst>
              <a:gd name="adj" fmla="val 3030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83,000 examples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9520" y="228600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Amharic conversations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Ethiopian researchers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download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use only 1,000 today so training finishes inside the lesson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892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that will save you months: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ten real examples before you train on 83,000. Bad data trains bad models, silently.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exists because people chose to build it. Amharic AI is not going to arrive by accident.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2D: Shape the Data for Training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does not learn from a table. It learns from text that shows a question followed by a good answer.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3291840"/>
          </a:xfrm>
          <a:prstGeom prst="roundRect">
            <a:avLst>
              <a:gd name="adj" fmla="val 1667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75688"/>
            <a:ext cx="1072591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to_text(ex):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turns = ex.get("conversations_amharic") or []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len(turns) &lt; 2: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{"text": ""}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 = turns[0].get("content", "")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   = turns[1].get("content", "")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{"text": f"### ጥያቄ:\n{question}\n\n### መልስ:\n{answer}{tok.eos_token}"}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raw.select(range(1000)).map(to_text, remove_columns=raw.column_names)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data.filter(lambda x: len(x["text"]) &gt; 40)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print(data[0]['text'][:300])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6F0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eos_token matters.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the model where the answer STOPS. Leave it out and your model rambles forever.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Lunch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searched the Hugging Face Hub and read a model card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34086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4597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340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measured Amharic vs English token counts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729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054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recorded baseline answers and saved them in a variable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8862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767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loaded the 83,000-example Amharic dataset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looked at real examples before training on them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31266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5193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formatted 1,000 examples into question/answer text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answers are the most important thing you have. Do not lose them.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303F9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Tokenizers are not neutral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costs 3x English on this model. That is a design choice someone made, and it has a real cost.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before you build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'before', your 'after' proves nothing. This is the discipline that separates engineering from guessing.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your data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real examples read carefully will teach you more than 83,000 rows you never opened.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303F9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3 (13:45):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LoRA. The trick that makes fine-tuning fit in 2 GB — then you actually train the model.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 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2676</Words>
  <Application>Microsoft Office PowerPoint</Application>
  <PresentationFormat>Widescreen</PresentationFormat>
  <Paragraphs>423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Microsoft YaHei</vt:lpstr>
      <vt:lpstr>Arial</vt:lpstr>
      <vt:lpstr>Calibri</vt:lpstr>
      <vt:lpstr>Cambria</vt:lpstr>
      <vt:lpstr>Consolas</vt:lpstr>
      <vt:lpstr>Courier New</vt:lpstr>
      <vt:lpstr>Garamond</vt:lpstr>
      <vt:lpstr>LucidaGrande</vt:lpstr>
      <vt:lpstr>Noto Sans SC</vt:lpstr>
      <vt:lpstr>Wingdings</vt:lpstr>
      <vt:lpstr>Office Theme</vt:lpstr>
      <vt:lpstr>Theme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Imagine the number of Neurons and guess how Big LLMs are. </vt:lpstr>
      <vt:lpstr>Transformer: Design Phase</vt:lpstr>
      <vt:lpstr>A high-level look of Transformer </vt:lpstr>
      <vt:lpstr>A high-level look of Transformer </vt:lpstr>
      <vt:lpstr>A high-level look of Transformer </vt:lpstr>
      <vt:lpstr>A high-level look of Transformer </vt:lpstr>
      <vt:lpstr>A high-level look of Transformer </vt:lpstr>
      <vt:lpstr>A high-level look of Transformer </vt:lpstr>
      <vt:lpstr>Self-Attention at a High Level</vt:lpstr>
      <vt:lpstr>Self-Attention in Detail </vt:lpstr>
      <vt:lpstr>What is a Transformer??</vt:lpstr>
      <vt:lpstr>Self-Attention in Detail </vt:lpstr>
      <vt:lpstr>Add &amp; Norm Layer</vt:lpstr>
      <vt:lpstr>Feed Forward Layer</vt:lpstr>
      <vt:lpstr>Analogy: Ethiopian Market Meets Query–Key–Value Attention</vt:lpstr>
      <vt:lpstr>What provides the power to the Transformer</vt:lpstr>
      <vt:lpstr>Why Specialization Emerges (Mathematically &amp; Intuitively)</vt:lpstr>
      <vt:lpstr>BERT show the following(BERT Topology paper)</vt:lpstr>
      <vt:lpstr>Large Language Models</vt:lpstr>
      <vt:lpstr>PowerPoint Presentation</vt:lpstr>
      <vt:lpstr>What has happened inside the LLMs: BERT as a showcase  </vt:lpstr>
      <vt:lpstr>Human vs. LLMs: A Comparison of Reading Speed, Training Time, and Resource Demands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Hayat Ebrahim</cp:lastModifiedBy>
  <cp:revision>3</cp:revision>
  <dcterms:created xsi:type="dcterms:W3CDTF">2026-07-23T01:48:01Z</dcterms:created>
  <dcterms:modified xsi:type="dcterms:W3CDTF">2026-07-23T10:38:43Z</dcterms:modified>
</cp:coreProperties>
</file>